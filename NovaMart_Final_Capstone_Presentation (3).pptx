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81273" autoAdjust="0"/>
  </p:normalViewPr>
  <p:slideViewPr>
    <p:cSldViewPr snapToGrid="0" snapToObjects="1">
      <p:cViewPr>
        <p:scale>
          <a:sx n="92" d="100"/>
          <a:sy n="92" d="100"/>
        </p:scale>
        <p:origin x="-307"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C40567D3-7D5C-4149-BC94-ED37E83020F4}" type="datetimeFigureOut">
              <a:rPr lang="en-CA" smtClean="0"/>
              <a:t>2026-07-13</a:t>
            </a:fld>
            <a:endParaRPr lang="en-CA"/>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75EF5240-8A09-4C61-B7D2-95ECBE6C800E}" type="slidenum">
              <a:rPr lang="en-CA" smtClean="0"/>
              <a:t>‹#›</a:t>
            </a:fld>
            <a:endParaRPr lang="en-CA"/>
          </a:p>
        </p:txBody>
      </p:sp>
    </p:spTree>
    <p:extLst>
      <p:ext uri="{BB962C8B-B14F-4D97-AF65-F5344CB8AC3E}">
        <p14:creationId xmlns:p14="http://schemas.microsoft.com/office/powerpoint/2010/main" val="3032094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everyone. Today I'm presenting my capstone project: the AI-Powered Smart Retail Analytics Platform, built for a fictional company called NovaMart.
NovaMart is modelled on a real dataset — the Olist Brazilian E-Commerce dataset — so everything I'll show today is grounded in real transactional data, not a toy example. Over the course of this project I built a nine-module analytics pipeline end to end: data acquisition, feature engineering, exploratory data analysis, customer segmentation, sales forecasting, delivery-delay and satisfaction prediction, a product recommendation engine, model explainability, and finally a live Streamlit dashboard that ties every module together into one interactive application. Today I'll walk through the business problem, what I built for each module, what the models actually found, and what it means for NovaMart's business — including the results that worked well and the ones that didn't, because both are useful.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the modules, let me set up the business context. NovaMart is a fictional multinational e-commerce company, comparable in scale to a platform like Amazon or Shopee, and it faces five analytical blind spots that are very common in growing e-commerce businesses: it can't tell its most valuable customers apart from one-time buyers, it has no reliable way to forecast future sales, delivery delays only surface after a customer complains, there's no personalised product recommendation capability, and where predictive models did exist, they offered no explanation a business stakeholder could trust or act on. Each of these five gaps maps directly onto one of the platform's modules, which I'll walk through one at a time, each backed by an actual trained model and a real, measured result.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runs entirely on the Olist Brazilian E-Commerce dataset. Building the analytical dataset required genuine data engineering: resolving foreign keys across nine tables, and reconciling one-to-many relationships. After merging, I found and removed one anomalous order with no payment record and 265 duplicate rows, leaving a clean 113,049-row, 46-column master dataset that every subsequent module was built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end to end. All nine modules were completed on the same master dataset, so nothing downstream had to re-derive or re-clean data — every module builds on the same 113,049-row foundation. A couple of deliberate design decisions worth calling out: I did not build a standalone fraud or anomaly-detection model, because Olist provides no labelled fraud data to validate one against — instead, risk-flagging is handled through the explainability and dashboard layer, using the same feature-importance logic as the delivery and satisfaction models. And the ninth module, the BI dashboard, is the final deliverable I'll demo later — a Streamlit application built on top of the eight analytical modules that lets a NovaMart stakeholder interact with all of this without opening a single notebook.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in this project followed the same seven-step lifecycle, shown here: acquire the data, clean and preprocess it, explore it, engineer features from it, build and compare machine learning models, explain what those models are doing, and finally deploy the result into the dashboard. I'm showing this upfront because it's the structure behind every slide that follows — when I walk through, say, the segmentation or forecasting module, I'm really walking through steps 3 through 6 of this lifecycle applied to that specific business question. The results on the next several slides are real, measured outputs of this process, not projections.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volume shows healthy, sustained growth with a clear Black Friday spike — useful context for the forecasting module later. Delivery time is heavily right-skewed: most orders arrive in 6-20 days, but a long tail of extreme delays disproportionately affects customer experience, which becomes very relevant when we look at satisfaction prediction.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EDA findings that fed directly into later modules: satisfaction is skewed positive but with a meaningful unhappy minority; the customer and seller base is heavily concentrated in south-eastern Brazil, which matters for delivery-distance features; and credit card dominates payment behaviour, which turned out to be a genuine differentiator between customer segments.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K=5 was chosen balancing the elbow method, silhouette score, and business interpretability. The most important finding here isn't the clusters themselves — it's that 97% of customers never come back. That single fact reframes almost every recommendation later in this deck around retention rather than acquisition.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honest result. Six ARIMA specifications were compared; the best by RMSE still produced a negative R². Daily NovaMart revenue is dominated by irregular promotional spikes rather than smooth seasonality, which classical linear time-series models aren't built to capture. I'm presenting this as a genuine finding and a roadmap for improvement, not hiding it — that's the difference between a classroom exercise and an honest applied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was the strongest of three classifiers, with high precision but low recall on the late-delivery minority class. I tested SMOTE to address the class imbalance — it didn't help, which tells us the limiting factor is the available features, not the algorithm. This model should be used as a prioritisation tool for operations teams, not a stand-alone detector.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model performed noticeably better than delivery prediction — 84.6% accuracy with 98.1% recall. In practice this means the customer-service team could flag the smaller group of likely-dissatisfied orders with high confidence and intervene before the customer ever leaves a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more instructive findings of the whole project. I ran Apriori association-rule mining at the category level and found no rules meeting minimum lift and confidence thresholds — NovaMart baskets are single-category dominant. Rather than force a weak cross-selling model, the deployed engine blends popularity, segment, and rating signals, which is a more honest engineering response given the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were interpreted using Random Forest feature importance. Shipping duration, payment value, and freight cost dominate delivery-delay risk. For satisfaction, delivery delay and total delivery time are, unsurprisingly, the two strongest predictors — confirming, at the feature level, exactly what the EDA correlation analysis suggested at the start.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deployed application, running on my own machine via Streamlit — not a mockup. On the left, the Executive Overview page surfaces the same KPIs and order-volume trend from the EDA module. On the right, Customer Segmentation lets a NovaMart stakeholder explore the five segments interactively — cluster sizes, silhouette analysis, and a segment profiler, all from Module 03's trained K-Means model. Notice the amber 'demo data' badge — the dashboard is transparent about when it's showing verified notebook snapshots versus a live-scored model, so nothing is silently faked.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turns Module 05's Random Forest classifier into something a non-technical NovaMart employee can actually use: enter shipping days, price, freight, payment value, and distance, click Predict, and get an instant risk score with a plain-language label — here, Low Risk at 22.5%. This is the same feature set and the same feature-importance weighting from the explainability module, just made interactive. The satisfaction prediction page works identically.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all nine modules together into five concrete recommendations for NovaMart's management. The through-line across almost all of them is that logistics and retention, not acquisition or algorithmic sophistication, are where NovaMart's next investment dollar should go.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project is finished — these are the limitations I'd flag to a hiring manager unprompted, and the concrete next steps I'd take with more time. Reporting both strengths and limits honestly is, in my view, itself part of the deliverable.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project delivered nine fully working modules on a single 113,049-order dataset — trained and evaluated models for every prediction task, from segmentation through forecasting, delivery and satisfaction prediction, recommendations, and explainability — all tied together in a live, deployed dashboard. Just as importantly, every result I've presented today, the strong ones and the weak ones, is real, measured, and reproducible from the notebooks behind this project. Thank you —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1E2761"/>
          </a:solidFill>
          <a:ln/>
        </p:spPr>
      </p:sp>
      <p:sp>
        <p:nvSpPr>
          <p:cNvPr id="3" name="Text 1"/>
          <p:cNvSpPr/>
          <p:nvPr/>
        </p:nvSpPr>
        <p:spPr>
          <a:xfrm>
            <a:off x="502920" y="6473952"/>
            <a:ext cx="7315200" cy="292608"/>
          </a:xfrm>
          <a:prstGeom prst="rect">
            <a:avLst/>
          </a:prstGeom>
          <a:noFill/>
          <a:ln/>
        </p:spPr>
        <p:txBody>
          <a:bodyPr wrap="square" rtlCol="0" anchor="ctr"/>
          <a:lstStyle/>
          <a:p>
            <a:pPr marL="0" indent="0" algn="l">
              <a:buNone/>
            </a:pPr>
            <a:r>
              <a:rPr lang="en-US" sz="900" dirty="0">
                <a:solidFill>
                  <a:srgbClr val="5B6479"/>
                </a:solidFill>
                <a:latin typeface="Calibri" pitchFamily="34" charset="0"/>
                <a:ea typeface="Calibri" pitchFamily="34" charset="-122"/>
                <a:cs typeface="Calibri" pitchFamily="34" charset="-120"/>
              </a:rPr>
              <a:t>NOVAMART  |  AI RETAIL INTELLIGENCE PLATFORM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141B49"/>
          </a:solidFill>
          <a:ln/>
        </p:spPr>
      </p:sp>
      <p:sp>
        <p:nvSpPr>
          <p:cNvPr id="3" name="Shape 1"/>
          <p:cNvSpPr/>
          <p:nvPr/>
        </p:nvSpPr>
        <p:spPr>
          <a:xfrm>
            <a:off x="10881360" y="-548640"/>
            <a:ext cx="2377440" cy="2377440"/>
          </a:xfrm>
          <a:prstGeom prst="ellipse">
            <a:avLst/>
          </a:prstGeom>
          <a:solidFill>
            <a:srgbClr val="F2A63C"/>
          </a:solidFill>
          <a:ln/>
        </p:spPr>
      </p:sp>
      <p:sp>
        <p:nvSpPr>
          <p:cNvPr id="4" name="Shape 2"/>
          <p:cNvSpPr/>
          <p:nvPr/>
        </p:nvSpPr>
        <p:spPr>
          <a:xfrm>
            <a:off x="-1280160" y="5120640"/>
            <a:ext cx="3291840" cy="3291840"/>
          </a:xfrm>
          <a:prstGeom prst="ellipse">
            <a:avLst/>
          </a:prstGeom>
          <a:solidFill>
            <a:srgbClr val="141B49"/>
          </a:solidFill>
          <a:ln/>
        </p:spPr>
      </p:sp>
      <p:sp>
        <p:nvSpPr>
          <p:cNvPr id="5" name="Text 3"/>
          <p:cNvSpPr/>
          <p:nvPr/>
        </p:nvSpPr>
        <p:spPr>
          <a:xfrm>
            <a:off x="822960" y="1965960"/>
            <a:ext cx="9601200" cy="365760"/>
          </a:xfrm>
          <a:prstGeom prst="rect">
            <a:avLst/>
          </a:prstGeom>
          <a:noFill/>
          <a:ln/>
        </p:spPr>
        <p:txBody>
          <a:bodyPr wrap="square" rtlCol="0" anchor="ctr"/>
          <a:lstStyle/>
          <a:p>
            <a:pPr marL="0" indent="0">
              <a:buNone/>
            </a:pPr>
            <a:r>
              <a:rPr lang="en-US" sz="1400" b="1" kern="0" spc="200" dirty="0">
                <a:solidFill>
                  <a:srgbClr val="F2A63C"/>
                </a:solidFill>
                <a:latin typeface="Calibri" pitchFamily="34" charset="0"/>
                <a:ea typeface="Calibri" pitchFamily="34" charset="-122"/>
                <a:cs typeface="Calibri" pitchFamily="34" charset="-120"/>
              </a:rPr>
              <a:t>CIMT CAPSTONE PROJECT  ·  FINAL PRESENTATION</a:t>
            </a:r>
            <a:endParaRPr lang="en-US" sz="1400" dirty="0"/>
          </a:p>
        </p:txBody>
      </p:sp>
      <p:sp>
        <p:nvSpPr>
          <p:cNvPr id="6" name="Text 4"/>
          <p:cNvSpPr/>
          <p:nvPr/>
        </p:nvSpPr>
        <p:spPr>
          <a:xfrm>
            <a:off x="822960" y="2331720"/>
            <a:ext cx="9875520" cy="1737360"/>
          </a:xfrm>
          <a:prstGeom prst="rect">
            <a:avLst/>
          </a:prstGeom>
          <a:noFill/>
          <a:ln/>
        </p:spPr>
        <p:txBody>
          <a:bodyPr wrap="square" rtlCol="0" anchor="ctr"/>
          <a:lstStyle/>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AI-Powered Smart Retail</a:t>
            </a:r>
            <a:endParaRPr lang="en-US" sz="4400" dirty="0"/>
          </a:p>
          <a:p>
            <a:pPr marL="0" indent="0">
              <a:lnSpc>
                <a:spcPts val="4800"/>
              </a:lnSpc>
              <a:buNone/>
            </a:pPr>
            <a:r>
              <a:rPr lang="en-US" sz="4400" b="1" dirty="0">
                <a:solidFill>
                  <a:srgbClr val="FFFFFF"/>
                </a:solidFill>
                <a:latin typeface="Cambria" pitchFamily="34" charset="0"/>
                <a:ea typeface="Cambria" pitchFamily="34" charset="-122"/>
                <a:cs typeface="Cambria" pitchFamily="34" charset="-120"/>
              </a:rPr>
              <a:t>Analytics Platform</a:t>
            </a:r>
            <a:endParaRPr lang="en-US" sz="4400" dirty="0"/>
          </a:p>
        </p:txBody>
      </p:sp>
      <p:sp>
        <p:nvSpPr>
          <p:cNvPr id="7" name="Text 5"/>
          <p:cNvSpPr/>
          <p:nvPr/>
        </p:nvSpPr>
        <p:spPr>
          <a:xfrm>
            <a:off x="822960" y="4041648"/>
            <a:ext cx="9601200" cy="45720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Results, Trained Models &amp; the Deployed NovaMart Dashboard</a:t>
            </a:r>
            <a:endParaRPr lang="en-US" sz="1700" dirty="0"/>
          </a:p>
        </p:txBody>
      </p:sp>
      <p:sp>
        <p:nvSpPr>
          <p:cNvPr id="8" name="Shape 6"/>
          <p:cNvSpPr/>
          <p:nvPr/>
        </p:nvSpPr>
        <p:spPr>
          <a:xfrm>
            <a:off x="822960" y="4617720"/>
            <a:ext cx="2011680" cy="0"/>
          </a:xfrm>
          <a:prstGeom prst="line">
            <a:avLst/>
          </a:prstGeom>
          <a:noFill/>
          <a:ln w="31750">
            <a:solidFill>
              <a:srgbClr val="F2A63C"/>
            </a:solidFill>
            <a:prstDash val="solid"/>
          </a:ln>
        </p:spPr>
      </p:sp>
      <p:sp>
        <p:nvSpPr>
          <p:cNvPr id="9" name="Text 7"/>
          <p:cNvSpPr/>
          <p:nvPr/>
        </p:nvSpPr>
        <p:spPr>
          <a:xfrm>
            <a:off x="822960" y="4800600"/>
            <a:ext cx="9601200" cy="320040"/>
          </a:xfrm>
          <a:prstGeom prst="rect">
            <a:avLst/>
          </a:prstGeom>
          <a:noFill/>
          <a:ln/>
        </p:spPr>
        <p:txBody>
          <a:bodyPr wrap="square" rtlCol="0" anchor="ctr"/>
          <a:lstStyle/>
          <a:p>
            <a:pPr marL="0" indent="0">
              <a:buNone/>
            </a:pPr>
            <a:r>
              <a:rPr lang="en-US" sz="1250" dirty="0">
                <a:solidFill>
                  <a:srgbClr val="CADCFC"/>
                </a:solidFill>
                <a:latin typeface="Calibri" pitchFamily="34" charset="0"/>
                <a:ea typeface="Calibri" pitchFamily="34" charset="-122"/>
                <a:cs typeface="Calibri" pitchFamily="34" charset="-120"/>
              </a:rPr>
              <a:t>Dataset: Olist Brazilian E-Commerce (Kaggle)   |   Company: NovaMart (fictional)</a:t>
            </a:r>
            <a:endParaRPr lang="en-US" sz="1250" dirty="0"/>
          </a:p>
        </p:txBody>
      </p:sp>
      <p:sp>
        <p:nvSpPr>
          <p:cNvPr id="10" name="Text 8"/>
          <p:cNvSpPr/>
          <p:nvPr/>
        </p:nvSpPr>
        <p:spPr>
          <a:xfrm>
            <a:off x="822960" y="5989320"/>
            <a:ext cx="9601200" cy="365760"/>
          </a:xfrm>
          <a:prstGeom prst="rect">
            <a:avLst/>
          </a:prstGeom>
          <a:noFill/>
          <a:ln/>
        </p:spPr>
        <p:txBody>
          <a:bodyPr wrap="square" rtlCol="0" anchor="ctr"/>
          <a:lstStyle/>
          <a:p>
            <a:pPr marL="0" indent="0">
              <a:buNone/>
            </a:pPr>
            <a:r>
              <a:rPr lang="en-US" sz="1200" dirty="0">
                <a:solidFill>
                  <a:srgbClr val="8FA3D6"/>
                </a:solidFill>
                <a:latin typeface="Calibri" pitchFamily="34" charset="0"/>
                <a:ea typeface="Calibri" pitchFamily="34" charset="-122"/>
                <a:cs typeface="Calibri" pitchFamily="34" charset="-120"/>
              </a:rPr>
              <a:t>9 Modules Built  ·  113,049 Orders Analysed  ·  1 Deployed Streamlit Dashboard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BUSINESS CONTEXT</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NovaMart &amp; The Business Problem</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2</a:t>
            </a:r>
            <a:endParaRPr lang="en-US" sz="900" dirty="0"/>
          </a:p>
        </p:txBody>
      </p:sp>
      <p:sp>
        <p:nvSpPr>
          <p:cNvPr id="5" name="Text 3"/>
          <p:cNvSpPr/>
          <p:nvPr/>
        </p:nvSpPr>
        <p:spPr>
          <a:xfrm>
            <a:off x="502920" y="1051560"/>
            <a:ext cx="10789920" cy="365760"/>
          </a:xfrm>
          <a:prstGeom prst="rect">
            <a:avLst/>
          </a:prstGeom>
          <a:noFill/>
          <a:ln/>
        </p:spPr>
        <p:txBody>
          <a:bodyPr wrap="square" rtlCol="0" anchor="ctr"/>
          <a:lstStyle/>
          <a:p>
            <a:pPr marL="0" indent="0">
              <a:buNone/>
            </a:pPr>
            <a:r>
              <a:rPr lang="en-US" sz="1300" i="1" dirty="0">
                <a:solidFill>
                  <a:srgbClr val="5B6479"/>
                </a:solidFill>
                <a:latin typeface="Calibri" pitchFamily="34" charset="0"/>
                <a:ea typeface="Calibri" pitchFamily="34" charset="-122"/>
                <a:cs typeface="Calibri" pitchFamily="34" charset="-120"/>
              </a:rPr>
              <a:t>A fictional multinational e-commerce company — real business challenges, solved with real data.</a:t>
            </a:r>
            <a:endParaRPr lang="en-US" sz="1300" dirty="0"/>
          </a:p>
        </p:txBody>
      </p:sp>
      <p:sp>
        <p:nvSpPr>
          <p:cNvPr id="6" name="Shape 4"/>
          <p:cNvSpPr/>
          <p:nvPr/>
        </p:nvSpPr>
        <p:spPr>
          <a:xfrm>
            <a:off x="502920" y="1600200"/>
            <a:ext cx="5212080" cy="4480560"/>
          </a:xfrm>
          <a:prstGeom prst="roundRect">
            <a:avLst>
              <a:gd name="adj" fmla="val 1633"/>
            </a:avLst>
          </a:prstGeom>
          <a:solidFill>
            <a:srgbClr val="EEF3FE"/>
          </a:solidFill>
          <a:ln/>
        </p:spPr>
      </p:sp>
      <p:sp>
        <p:nvSpPr>
          <p:cNvPr id="7" name="Text 5"/>
          <p:cNvSpPr/>
          <p:nvPr/>
        </p:nvSpPr>
        <p:spPr>
          <a:xfrm>
            <a:off x="777240" y="1783080"/>
            <a:ext cx="466344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Who is NovaMart?</a:t>
            </a:r>
            <a:endParaRPr lang="en-US" sz="1700" dirty="0"/>
          </a:p>
        </p:txBody>
      </p:sp>
      <p:sp>
        <p:nvSpPr>
          <p:cNvPr id="8" name="Text 6"/>
          <p:cNvSpPr/>
          <p:nvPr/>
        </p:nvSpPr>
        <p:spPr>
          <a:xfrm>
            <a:off x="777240" y="2240280"/>
            <a:ext cx="4663440" cy="4114800"/>
          </a:xfrm>
          <a:prstGeom prst="rect">
            <a:avLst/>
          </a:prstGeom>
          <a:noFill/>
          <a:ln/>
        </p:spPr>
        <p:txBody>
          <a:bodyPr wrap="square" rtlCol="0" anchor="t"/>
          <a:lstStyle/>
          <a:p>
            <a:pPr marL="177800" indent="-177800">
              <a:spcAft>
                <a:spcPts val="1200"/>
              </a:spcAft>
              <a:buSzPct val="100000"/>
              <a:buChar char="•"/>
            </a:pPr>
            <a:r>
              <a:rPr lang="en-US" sz="1350" dirty="0">
                <a:solidFill>
                  <a:srgbClr val="1B2033"/>
                </a:solidFill>
                <a:latin typeface="Calibri" pitchFamily="34" charset="0"/>
                <a:ea typeface="Calibri" pitchFamily="34" charset="-122"/>
                <a:cs typeface="Calibri" pitchFamily="34" charset="-120"/>
              </a:rPr>
              <a:t>Multinational online marketplace, comparable in scale to Amazon or Shopee</a:t>
            </a:r>
            <a:endParaRPr lang="en-US" sz="1350" dirty="0"/>
          </a:p>
          <a:p>
            <a:pPr marL="177800" indent="-177800">
              <a:spcAft>
                <a:spcPts val="1200"/>
              </a:spcAft>
              <a:buSzPct val="100000"/>
              <a:buChar char="•"/>
            </a:pPr>
            <a:r>
              <a:rPr lang="en-US" sz="1350" dirty="0">
                <a:solidFill>
                  <a:srgbClr val="1B2033"/>
                </a:solidFill>
                <a:latin typeface="Calibri" pitchFamily="34" charset="0"/>
                <a:ea typeface="Calibri" pitchFamily="34" charset="-122"/>
                <a:cs typeface="Calibri" pitchFamily="34" charset="-120"/>
              </a:rPr>
              <a:t>Thousands of products across dozens of categories</a:t>
            </a:r>
            <a:endParaRPr lang="en-US" sz="1350" dirty="0"/>
          </a:p>
          <a:p>
            <a:pPr marL="177800" indent="-177800">
              <a:spcAft>
                <a:spcPts val="1200"/>
              </a:spcAft>
              <a:buSzPct val="100000"/>
              <a:buChar char="•"/>
            </a:pPr>
            <a:r>
              <a:rPr lang="en-US" sz="1350" dirty="0">
                <a:solidFill>
                  <a:srgbClr val="1B2033"/>
                </a:solidFill>
                <a:latin typeface="Calibri" pitchFamily="34" charset="0"/>
                <a:ea typeface="Calibri" pitchFamily="34" charset="-122"/>
                <a:cs typeface="Calibri" pitchFamily="34" charset="-120"/>
              </a:rPr>
              <a:t>Large, geographically dispersed customer and seller base</a:t>
            </a:r>
            <a:endParaRPr lang="en-US" sz="1350" dirty="0"/>
          </a:p>
          <a:p>
            <a:pPr marL="177800" indent="-177800">
              <a:spcAft>
                <a:spcPts val="1200"/>
              </a:spcAft>
              <a:buSzPct val="100000"/>
              <a:buChar char="•"/>
            </a:pPr>
            <a:r>
              <a:rPr lang="en-US" sz="1350" dirty="0">
                <a:solidFill>
                  <a:srgbClr val="1B2033"/>
                </a:solidFill>
                <a:latin typeface="Calibri" pitchFamily="34" charset="0"/>
                <a:ea typeface="Calibri" pitchFamily="34" charset="-122"/>
                <a:cs typeface="Calibri" pitchFamily="34" charset="-120"/>
              </a:rPr>
              <a:t>Rich transactional data generated every day — orders, payments, reviews, delivery events</a:t>
            </a:r>
            <a:endParaRPr lang="en-US" sz="1350" dirty="0"/>
          </a:p>
        </p:txBody>
      </p:sp>
      <p:sp>
        <p:nvSpPr>
          <p:cNvPr id="9" name="Shape 7"/>
          <p:cNvSpPr/>
          <p:nvPr/>
        </p:nvSpPr>
        <p:spPr>
          <a:xfrm>
            <a:off x="5943600" y="1600200"/>
            <a:ext cx="5742432" cy="4480560"/>
          </a:xfrm>
          <a:prstGeom prst="roundRect">
            <a:avLst>
              <a:gd name="adj" fmla="val 1633"/>
            </a:avLst>
          </a:prstGeom>
          <a:solidFill>
            <a:srgbClr val="1E2761"/>
          </a:solidFill>
          <a:ln/>
        </p:spPr>
      </p:sp>
      <p:sp>
        <p:nvSpPr>
          <p:cNvPr id="10" name="Text 8"/>
          <p:cNvSpPr/>
          <p:nvPr/>
        </p:nvSpPr>
        <p:spPr>
          <a:xfrm>
            <a:off x="6217920" y="1783080"/>
            <a:ext cx="5303520" cy="365760"/>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Business Challenges Addressed</a:t>
            </a:r>
            <a:endParaRPr lang="en-US" sz="1700" dirty="0"/>
          </a:p>
        </p:txBody>
      </p:sp>
      <p:sp>
        <p:nvSpPr>
          <p:cNvPr id="11" name="Text 9"/>
          <p:cNvSpPr/>
          <p:nvPr/>
        </p:nvSpPr>
        <p:spPr>
          <a:xfrm>
            <a:off x="6217920" y="2240280"/>
            <a:ext cx="5303520" cy="4114800"/>
          </a:xfrm>
          <a:prstGeom prst="rect">
            <a:avLst/>
          </a:prstGeom>
          <a:noFill/>
          <a:ln/>
        </p:spPr>
        <p:txBody>
          <a:bodyPr wrap="square" rtlCol="0" anchor="t"/>
          <a:lstStyle/>
          <a:p>
            <a:pPr marL="177800" indent="-177800">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No way to distinguish valuable customers from one-time buyers</a:t>
            </a:r>
            <a:endParaRPr lang="en-US" sz="1350" dirty="0"/>
          </a:p>
          <a:p>
            <a:pPr marL="177800" indent="-177800">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No reliable forecast of future sales for planning and budgeting</a:t>
            </a:r>
            <a:endParaRPr lang="en-US" sz="1350" dirty="0"/>
          </a:p>
          <a:p>
            <a:pPr marL="177800" indent="-177800">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Delivery delays go undetected until a customer complains</a:t>
            </a:r>
            <a:endParaRPr lang="en-US" sz="1350" dirty="0"/>
          </a:p>
          <a:p>
            <a:pPr marL="177800" indent="-177800">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No personalised product recommendations</a:t>
            </a:r>
            <a:endParaRPr lang="en-US" sz="1350" dirty="0"/>
          </a:p>
          <a:p>
            <a:pPr marL="177800" indent="-177800">
              <a:spcAft>
                <a:spcPts val="1200"/>
              </a:spcAft>
              <a:buSzPct val="100000"/>
              <a:buChar char="•"/>
            </a:pPr>
            <a:r>
              <a:rPr lang="en-US" sz="1350" dirty="0">
                <a:solidFill>
                  <a:srgbClr val="CADCFC"/>
                </a:solidFill>
                <a:latin typeface="Calibri" pitchFamily="34" charset="0"/>
                <a:ea typeface="Calibri" pitchFamily="34" charset="-122"/>
                <a:cs typeface="Calibri" pitchFamily="34" charset="-120"/>
              </a:rPr>
              <a:t>AI predictions offered no explanation stakeholders could trust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Dataset: From 9 Raw Tables to 1 Master Dataset</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502920" y="1234440"/>
            <a:ext cx="2651760" cy="1188720"/>
          </a:xfrm>
          <a:prstGeom prst="roundRect">
            <a:avLst>
              <a:gd name="adj" fmla="val 6154"/>
            </a:avLst>
          </a:prstGeom>
          <a:solidFill>
            <a:srgbClr val="EEF3FE"/>
          </a:solidFill>
          <a:ln w="9525">
            <a:solidFill>
              <a:srgbClr val="E3E9F6"/>
            </a:solidFill>
            <a:prstDash val="solid"/>
          </a:ln>
          <a:effectLst>
            <a:outerShdw blurRad="76200" dist="25400" dir="5400000" algn="bl" rotWithShape="0">
              <a:srgbClr val="999999">
                <a:alpha val="18000"/>
              </a:srgbClr>
            </a:outerShdw>
          </a:effectLst>
        </p:spPr>
      </p:sp>
      <p:sp>
        <p:nvSpPr>
          <p:cNvPr id="6" name="Text 4"/>
          <p:cNvSpPr/>
          <p:nvPr/>
        </p:nvSpPr>
        <p:spPr>
          <a:xfrm>
            <a:off x="612648" y="1325880"/>
            <a:ext cx="2432304" cy="653796"/>
          </a:xfrm>
          <a:prstGeom prst="rect">
            <a:avLst/>
          </a:prstGeom>
          <a:noFill/>
          <a:ln/>
        </p:spPr>
        <p:txBody>
          <a:bodyPr wrap="square" rtlCol="0" anchor="b"/>
          <a:lstStyle/>
          <a:p>
            <a:pPr marL="0" indent="0" algn="ctr">
              <a:buNone/>
            </a:pPr>
            <a:r>
              <a:rPr lang="en-US" sz="2400" b="1" dirty="0">
                <a:solidFill>
                  <a:srgbClr val="1E2761"/>
                </a:solidFill>
                <a:latin typeface="Cambria" pitchFamily="34" charset="0"/>
                <a:ea typeface="Cambria" pitchFamily="34" charset="-122"/>
                <a:cs typeface="Cambria" pitchFamily="34" charset="-120"/>
              </a:rPr>
              <a:t>9</a:t>
            </a:r>
            <a:endParaRPr lang="en-US" sz="2400" dirty="0"/>
          </a:p>
        </p:txBody>
      </p:sp>
      <p:sp>
        <p:nvSpPr>
          <p:cNvPr id="7" name="Text 5"/>
          <p:cNvSpPr/>
          <p:nvPr/>
        </p:nvSpPr>
        <p:spPr>
          <a:xfrm>
            <a:off x="612648" y="1947672"/>
            <a:ext cx="2432304" cy="451714"/>
          </a:xfrm>
          <a:prstGeom prst="rect">
            <a:avLst/>
          </a:prstGeom>
          <a:noFill/>
          <a:ln/>
        </p:spPr>
        <p:txBody>
          <a:bodyPr wrap="square" rtlCol="0" anchor="t"/>
          <a:lstStyle/>
          <a:p>
            <a:pPr marL="0" indent="0" algn="ctr">
              <a:buNone/>
            </a:pPr>
            <a:r>
              <a:rPr lang="en-US" sz="1050" dirty="0">
                <a:solidFill>
                  <a:srgbClr val="5B6479"/>
                </a:solidFill>
                <a:latin typeface="Calibri" pitchFamily="34" charset="0"/>
                <a:ea typeface="Calibri" pitchFamily="34" charset="-122"/>
                <a:cs typeface="Calibri" pitchFamily="34" charset="-120"/>
              </a:rPr>
              <a:t>Olist Relational Tables Merged</a:t>
            </a:r>
            <a:endParaRPr lang="en-US" sz="1050" dirty="0"/>
          </a:p>
        </p:txBody>
      </p:sp>
      <p:sp>
        <p:nvSpPr>
          <p:cNvPr id="8" name="Shape 6"/>
          <p:cNvSpPr/>
          <p:nvPr/>
        </p:nvSpPr>
        <p:spPr>
          <a:xfrm>
            <a:off x="3337560" y="1234440"/>
            <a:ext cx="2651760" cy="1188720"/>
          </a:xfrm>
          <a:prstGeom prst="roundRect">
            <a:avLst>
              <a:gd name="adj" fmla="val 6154"/>
            </a:avLst>
          </a:prstGeom>
          <a:solidFill>
            <a:srgbClr val="EEF3FE"/>
          </a:solidFill>
          <a:ln w="9525">
            <a:solidFill>
              <a:srgbClr val="E3E9F6"/>
            </a:solidFill>
            <a:prstDash val="solid"/>
          </a:ln>
          <a:effectLst>
            <a:outerShdw blurRad="76200" dist="25400" dir="5400000" algn="bl" rotWithShape="0">
              <a:srgbClr val="999999">
                <a:alpha val="18000"/>
              </a:srgbClr>
            </a:outerShdw>
          </a:effectLst>
        </p:spPr>
      </p:sp>
      <p:sp>
        <p:nvSpPr>
          <p:cNvPr id="9" name="Text 7"/>
          <p:cNvSpPr/>
          <p:nvPr/>
        </p:nvSpPr>
        <p:spPr>
          <a:xfrm>
            <a:off x="3447288" y="1325880"/>
            <a:ext cx="2432304" cy="653796"/>
          </a:xfrm>
          <a:prstGeom prst="rect">
            <a:avLst/>
          </a:prstGeom>
          <a:noFill/>
          <a:ln/>
        </p:spPr>
        <p:txBody>
          <a:bodyPr wrap="square" rtlCol="0" anchor="b"/>
          <a:lstStyle/>
          <a:p>
            <a:pPr marL="0" indent="0" algn="ctr">
              <a:buNone/>
            </a:pPr>
            <a:r>
              <a:rPr lang="en-US" sz="2400" b="1" dirty="0">
                <a:solidFill>
                  <a:srgbClr val="1E2761"/>
                </a:solidFill>
                <a:latin typeface="Cambria" pitchFamily="34" charset="0"/>
                <a:ea typeface="Cambria" pitchFamily="34" charset="-122"/>
                <a:cs typeface="Cambria" pitchFamily="34" charset="-120"/>
              </a:rPr>
              <a:t>113,049</a:t>
            </a:r>
            <a:endParaRPr lang="en-US" sz="2400" dirty="0"/>
          </a:p>
        </p:txBody>
      </p:sp>
      <p:sp>
        <p:nvSpPr>
          <p:cNvPr id="10" name="Text 8"/>
          <p:cNvSpPr/>
          <p:nvPr/>
        </p:nvSpPr>
        <p:spPr>
          <a:xfrm>
            <a:off x="3447288" y="1947672"/>
            <a:ext cx="2432304" cy="451714"/>
          </a:xfrm>
          <a:prstGeom prst="rect">
            <a:avLst/>
          </a:prstGeom>
          <a:noFill/>
          <a:ln/>
        </p:spPr>
        <p:txBody>
          <a:bodyPr wrap="square" rtlCol="0" anchor="t"/>
          <a:lstStyle/>
          <a:p>
            <a:pPr marL="0" indent="0" algn="ctr">
              <a:buNone/>
            </a:pPr>
            <a:r>
              <a:rPr lang="en-US" sz="1050" dirty="0">
                <a:solidFill>
                  <a:srgbClr val="5B6479"/>
                </a:solidFill>
                <a:latin typeface="Calibri" pitchFamily="34" charset="0"/>
                <a:ea typeface="Calibri" pitchFamily="34" charset="-122"/>
                <a:cs typeface="Calibri" pitchFamily="34" charset="-120"/>
              </a:rPr>
              <a:t>Final Order-Item Records</a:t>
            </a:r>
            <a:endParaRPr lang="en-US" sz="1050" dirty="0"/>
          </a:p>
        </p:txBody>
      </p:sp>
      <p:sp>
        <p:nvSpPr>
          <p:cNvPr id="11" name="Shape 9"/>
          <p:cNvSpPr/>
          <p:nvPr/>
        </p:nvSpPr>
        <p:spPr>
          <a:xfrm>
            <a:off x="6172200" y="1234440"/>
            <a:ext cx="2651760" cy="1188720"/>
          </a:xfrm>
          <a:prstGeom prst="roundRect">
            <a:avLst>
              <a:gd name="adj" fmla="val 6154"/>
            </a:avLst>
          </a:prstGeom>
          <a:solidFill>
            <a:srgbClr val="EEF3FE"/>
          </a:solidFill>
          <a:ln w="9525">
            <a:solidFill>
              <a:srgbClr val="E3E9F6"/>
            </a:solidFill>
            <a:prstDash val="solid"/>
          </a:ln>
          <a:effectLst>
            <a:outerShdw blurRad="76200" dist="25400" dir="5400000" algn="bl" rotWithShape="0">
              <a:srgbClr val="999999">
                <a:alpha val="18000"/>
              </a:srgbClr>
            </a:outerShdw>
          </a:effectLst>
        </p:spPr>
      </p:sp>
      <p:sp>
        <p:nvSpPr>
          <p:cNvPr id="12" name="Text 10"/>
          <p:cNvSpPr/>
          <p:nvPr/>
        </p:nvSpPr>
        <p:spPr>
          <a:xfrm>
            <a:off x="6281928" y="1325880"/>
            <a:ext cx="2432304" cy="653796"/>
          </a:xfrm>
          <a:prstGeom prst="rect">
            <a:avLst/>
          </a:prstGeom>
          <a:noFill/>
          <a:ln/>
        </p:spPr>
        <p:txBody>
          <a:bodyPr wrap="square" rtlCol="0" anchor="b"/>
          <a:lstStyle/>
          <a:p>
            <a:pPr marL="0" indent="0" algn="ctr">
              <a:buNone/>
            </a:pPr>
            <a:r>
              <a:rPr lang="en-US" sz="2400" b="1" dirty="0">
                <a:solidFill>
                  <a:srgbClr val="1E2761"/>
                </a:solidFill>
                <a:latin typeface="Cambria" pitchFamily="34" charset="0"/>
                <a:ea typeface="Cambria" pitchFamily="34" charset="-122"/>
                <a:cs typeface="Cambria" pitchFamily="34" charset="-120"/>
              </a:rPr>
              <a:t>46</a:t>
            </a:r>
            <a:endParaRPr lang="en-US" sz="2400" dirty="0"/>
          </a:p>
        </p:txBody>
      </p:sp>
      <p:sp>
        <p:nvSpPr>
          <p:cNvPr id="13" name="Text 11"/>
          <p:cNvSpPr/>
          <p:nvPr/>
        </p:nvSpPr>
        <p:spPr>
          <a:xfrm>
            <a:off x="6281928" y="1947672"/>
            <a:ext cx="2432304" cy="451714"/>
          </a:xfrm>
          <a:prstGeom prst="rect">
            <a:avLst/>
          </a:prstGeom>
          <a:noFill/>
          <a:ln/>
        </p:spPr>
        <p:txBody>
          <a:bodyPr wrap="square" rtlCol="0" anchor="t"/>
          <a:lstStyle/>
          <a:p>
            <a:pPr marL="0" indent="0" algn="ctr">
              <a:buNone/>
            </a:pPr>
            <a:r>
              <a:rPr lang="en-US" sz="1050" dirty="0">
                <a:solidFill>
                  <a:srgbClr val="5B6479"/>
                </a:solidFill>
                <a:latin typeface="Calibri" pitchFamily="34" charset="0"/>
                <a:ea typeface="Calibri" pitchFamily="34" charset="-122"/>
                <a:cs typeface="Calibri" pitchFamily="34" charset="-120"/>
              </a:rPr>
              <a:t>Engineered Variables</a:t>
            </a:r>
            <a:endParaRPr lang="en-US" sz="1050" dirty="0"/>
          </a:p>
        </p:txBody>
      </p:sp>
      <p:sp>
        <p:nvSpPr>
          <p:cNvPr id="14" name="Shape 12"/>
          <p:cNvSpPr/>
          <p:nvPr/>
        </p:nvSpPr>
        <p:spPr>
          <a:xfrm>
            <a:off x="9006840" y="1234440"/>
            <a:ext cx="2651760" cy="1188720"/>
          </a:xfrm>
          <a:prstGeom prst="roundRect">
            <a:avLst>
              <a:gd name="adj" fmla="val 6154"/>
            </a:avLst>
          </a:prstGeom>
          <a:solidFill>
            <a:srgbClr val="EEF3FE"/>
          </a:solidFill>
          <a:ln w="9525">
            <a:solidFill>
              <a:srgbClr val="E3E9F6"/>
            </a:solidFill>
            <a:prstDash val="solid"/>
          </a:ln>
          <a:effectLst>
            <a:outerShdw blurRad="76200" dist="25400" dir="5400000" algn="bl" rotWithShape="0">
              <a:srgbClr val="999999">
                <a:alpha val="18000"/>
              </a:srgbClr>
            </a:outerShdw>
          </a:effectLst>
        </p:spPr>
      </p:sp>
      <p:sp>
        <p:nvSpPr>
          <p:cNvPr id="15" name="Text 13"/>
          <p:cNvSpPr/>
          <p:nvPr/>
        </p:nvSpPr>
        <p:spPr>
          <a:xfrm>
            <a:off x="9116568" y="1325880"/>
            <a:ext cx="2432304" cy="653796"/>
          </a:xfrm>
          <a:prstGeom prst="rect">
            <a:avLst/>
          </a:prstGeom>
          <a:noFill/>
          <a:ln/>
        </p:spPr>
        <p:txBody>
          <a:bodyPr wrap="square" rtlCol="0" anchor="b"/>
          <a:lstStyle/>
          <a:p>
            <a:pPr marL="0" indent="0" algn="ctr">
              <a:buNone/>
            </a:pPr>
            <a:r>
              <a:rPr lang="en-US" sz="2400" b="1" dirty="0">
                <a:solidFill>
                  <a:srgbClr val="1E2761"/>
                </a:solidFill>
                <a:latin typeface="Cambria" pitchFamily="34" charset="0"/>
                <a:ea typeface="Cambria" pitchFamily="34" charset="-122"/>
                <a:cs typeface="Cambria" pitchFamily="34" charset="-120"/>
              </a:rPr>
              <a:t>Sep '16 – Aug '18</a:t>
            </a:r>
            <a:endParaRPr lang="en-US" sz="2400" dirty="0"/>
          </a:p>
        </p:txBody>
      </p:sp>
      <p:sp>
        <p:nvSpPr>
          <p:cNvPr id="16" name="Text 14"/>
          <p:cNvSpPr/>
          <p:nvPr/>
        </p:nvSpPr>
        <p:spPr>
          <a:xfrm>
            <a:off x="9116568" y="1947672"/>
            <a:ext cx="2432304" cy="451714"/>
          </a:xfrm>
          <a:prstGeom prst="rect">
            <a:avLst/>
          </a:prstGeom>
          <a:noFill/>
          <a:ln/>
        </p:spPr>
        <p:txBody>
          <a:bodyPr wrap="square" rtlCol="0" anchor="t"/>
          <a:lstStyle/>
          <a:p>
            <a:pPr marL="0" indent="0" algn="ctr">
              <a:buNone/>
            </a:pPr>
            <a:r>
              <a:rPr lang="en-US" sz="1050" dirty="0">
                <a:solidFill>
                  <a:srgbClr val="5B6479"/>
                </a:solidFill>
                <a:latin typeface="Calibri" pitchFamily="34" charset="0"/>
                <a:ea typeface="Calibri" pitchFamily="34" charset="-122"/>
                <a:cs typeface="Calibri" pitchFamily="34" charset="-120"/>
              </a:rPr>
              <a:t>Observation Window</a:t>
            </a:r>
            <a:endParaRPr lang="en-US" sz="1050" dirty="0"/>
          </a:p>
        </p:txBody>
      </p:sp>
      <p:sp>
        <p:nvSpPr>
          <p:cNvPr id="17" name="Text 15"/>
          <p:cNvSpPr/>
          <p:nvPr/>
        </p:nvSpPr>
        <p:spPr>
          <a:xfrm>
            <a:off x="502920" y="2697480"/>
            <a:ext cx="548640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Data Engineering Highlights</a:t>
            </a:r>
            <a:endParaRPr lang="en-US" sz="1600" dirty="0"/>
          </a:p>
        </p:txBody>
      </p:sp>
      <p:sp>
        <p:nvSpPr>
          <p:cNvPr id="18" name="Text 16"/>
          <p:cNvSpPr/>
          <p:nvPr/>
        </p:nvSpPr>
        <p:spPr>
          <a:xfrm>
            <a:off x="502920" y="3063240"/>
            <a:ext cx="5577840" cy="4114800"/>
          </a:xfrm>
          <a:prstGeom prst="rect">
            <a:avLst/>
          </a:prstGeom>
          <a:noFill/>
          <a:ln/>
        </p:spPr>
        <p:txBody>
          <a:bodyPr wrap="square" rtlCol="0" anchor="t"/>
          <a:lstStyle/>
          <a:p>
            <a:pPr marL="177800" indent="-177800">
              <a:spcAft>
                <a:spcPts val="1000"/>
              </a:spcAft>
              <a:buSzPct val="100000"/>
              <a:buChar char="•"/>
            </a:pPr>
            <a:r>
              <a:rPr lang="en-US" sz="1250" dirty="0">
                <a:solidFill>
                  <a:srgbClr val="1B2033"/>
                </a:solidFill>
                <a:latin typeface="Calibri" pitchFamily="34" charset="0"/>
                <a:ea typeface="Calibri" pitchFamily="34" charset="-122"/>
                <a:cs typeface="Calibri" pitchFamily="34" charset="-120"/>
              </a:rPr>
              <a:t>Merged customers, orders, order items, products, sellers, payments, reviews, geolocation &amp; category-translation tables via relational keys</a:t>
            </a:r>
            <a:endParaRPr lang="en-US" sz="1250" dirty="0"/>
          </a:p>
          <a:p>
            <a:pPr marL="177800" indent="-177800">
              <a:spcAft>
                <a:spcPts val="1000"/>
              </a:spcAft>
              <a:buSzPct val="100000"/>
              <a:buChar char="•"/>
            </a:pPr>
            <a:r>
              <a:rPr lang="en-US" sz="1250" dirty="0">
                <a:solidFill>
                  <a:srgbClr val="1B2033"/>
                </a:solidFill>
                <a:latin typeface="Calibri" pitchFamily="34" charset="0"/>
                <a:ea typeface="Calibri" pitchFamily="34" charset="-122"/>
                <a:cs typeface="Calibri" pitchFamily="34" charset="-120"/>
              </a:rPr>
              <a:t>Removed 1 anomalous order with no payment record (3 rows) and 265 exact duplicate rows introduced during merge</a:t>
            </a:r>
            <a:endParaRPr lang="en-US" sz="1250" dirty="0"/>
          </a:p>
          <a:p>
            <a:pPr marL="177800" indent="-177800">
              <a:spcAft>
                <a:spcPts val="1000"/>
              </a:spcAft>
              <a:buSzPct val="100000"/>
              <a:buChar char="•"/>
            </a:pPr>
            <a:r>
              <a:rPr lang="en-US" sz="1250" dirty="0">
                <a:solidFill>
                  <a:srgbClr val="1B2033"/>
                </a:solidFill>
                <a:latin typeface="Calibri" pitchFamily="34" charset="0"/>
                <a:ea typeface="Calibri" pitchFamily="34" charset="-122"/>
                <a:cs typeface="Calibri" pitchFamily="34" charset="-120"/>
              </a:rPr>
              <a:t>Missing delivery timestamps (2.2%) and review scores (0.8%) retained as valid business states, not imputed</a:t>
            </a:r>
            <a:endParaRPr lang="en-US" sz="1250" dirty="0"/>
          </a:p>
        </p:txBody>
      </p:sp>
      <p:sp>
        <p:nvSpPr>
          <p:cNvPr id="19" name="Text 17"/>
          <p:cNvSpPr/>
          <p:nvPr/>
        </p:nvSpPr>
        <p:spPr>
          <a:xfrm>
            <a:off x="6400800" y="2697480"/>
            <a:ext cx="5303520" cy="32004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Why Olist?</a:t>
            </a:r>
            <a:endParaRPr lang="en-US" sz="1600" dirty="0"/>
          </a:p>
        </p:txBody>
      </p:sp>
      <p:sp>
        <p:nvSpPr>
          <p:cNvPr id="20" name="Text 18"/>
          <p:cNvSpPr/>
          <p:nvPr/>
        </p:nvSpPr>
        <p:spPr>
          <a:xfrm>
            <a:off x="6400800" y="3063240"/>
            <a:ext cx="5303520" cy="4114800"/>
          </a:xfrm>
          <a:prstGeom prst="rect">
            <a:avLst/>
          </a:prstGeom>
          <a:noFill/>
          <a:ln/>
        </p:spPr>
        <p:txBody>
          <a:bodyPr wrap="square" rtlCol="0" anchor="t"/>
          <a:lstStyle/>
          <a:p>
            <a:pPr marL="177800" indent="-177800">
              <a:spcAft>
                <a:spcPts val="1000"/>
              </a:spcAft>
              <a:buSzPct val="100000"/>
              <a:buChar char="•"/>
            </a:pPr>
            <a:r>
              <a:rPr lang="en-US" sz="1250" dirty="0">
                <a:solidFill>
                  <a:srgbClr val="1B2033"/>
                </a:solidFill>
                <a:latin typeface="Calibri" pitchFamily="34" charset="0"/>
                <a:ea typeface="Calibri" pitchFamily="34" charset="-122"/>
                <a:cs typeface="Calibri" pitchFamily="34" charset="-120"/>
              </a:rPr>
              <a:t>Real-world relational structure simulating an enterprise retail database</a:t>
            </a:r>
            <a:endParaRPr lang="en-US" sz="1250" dirty="0"/>
          </a:p>
          <a:p>
            <a:pPr marL="177800" indent="-177800">
              <a:spcAft>
                <a:spcPts val="1000"/>
              </a:spcAft>
              <a:buSzPct val="100000"/>
              <a:buChar char="•"/>
            </a:pPr>
            <a:r>
              <a:rPr lang="en-US" sz="1250" dirty="0">
                <a:solidFill>
                  <a:srgbClr val="1B2033"/>
                </a:solidFill>
                <a:latin typeface="Calibri" pitchFamily="34" charset="0"/>
                <a:ea typeface="Calibri" pitchFamily="34" charset="-122"/>
                <a:cs typeface="Calibri" pitchFamily="34" charset="-120"/>
              </a:rPr>
              <a:t>Supports every task type used in this project: clustering, time-series, classification, and association-rule mining</a:t>
            </a:r>
            <a:endParaRPr lang="en-US" sz="1250" dirty="0"/>
          </a:p>
          <a:p>
            <a:pPr marL="177800" indent="-177800">
              <a:spcAft>
                <a:spcPts val="1000"/>
              </a:spcAft>
              <a:buSzPct val="100000"/>
              <a:buChar char="•"/>
            </a:pPr>
            <a:r>
              <a:rPr lang="en-US" sz="1250" dirty="0">
                <a:solidFill>
                  <a:srgbClr val="1B2033"/>
                </a:solidFill>
                <a:latin typeface="Calibri" pitchFamily="34" charset="0"/>
                <a:ea typeface="Calibri" pitchFamily="34" charset="-122"/>
                <a:cs typeface="Calibri" pitchFamily="34" charset="-120"/>
              </a:rPr>
              <a:t>One coherent dataset powers all nine modules — no dataset juggling</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WHAT WAS BUILT</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Platform Architecture — Nine Modules Delivered</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02920" y="1234440"/>
            <a:ext cx="3639312" cy="1417320"/>
          </a:xfrm>
          <a:prstGeom prst="roundRect">
            <a:avLst>
              <a:gd name="adj" fmla="val 4516"/>
            </a:avLst>
          </a:prstGeom>
          <a:solidFill>
            <a:srgbClr val="EEF3FE"/>
          </a:solidFill>
          <a:ln w="9525">
            <a:solidFill>
              <a:srgbClr val="E3E9F6"/>
            </a:solidFill>
            <a:prstDash val="solid"/>
          </a:ln>
        </p:spPr>
      </p:sp>
      <p:sp>
        <p:nvSpPr>
          <p:cNvPr id="6" name="Shape 4"/>
          <p:cNvSpPr/>
          <p:nvPr/>
        </p:nvSpPr>
        <p:spPr>
          <a:xfrm>
            <a:off x="667512" y="1399032"/>
            <a:ext cx="457200" cy="457200"/>
          </a:xfrm>
          <a:prstGeom prst="ellipse">
            <a:avLst/>
          </a:prstGeom>
          <a:solidFill>
            <a:srgbClr val="1E2761"/>
          </a:solidFill>
          <a:ln/>
        </p:spPr>
      </p:sp>
      <p:sp>
        <p:nvSpPr>
          <p:cNvPr id="7" name="Text 5"/>
          <p:cNvSpPr/>
          <p:nvPr/>
        </p:nvSpPr>
        <p:spPr>
          <a:xfrm>
            <a:off x="667512" y="1399032"/>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00</a:t>
            </a:r>
            <a:endParaRPr lang="en-US" sz="1400" dirty="0"/>
          </a:p>
        </p:txBody>
      </p:sp>
      <p:sp>
        <p:nvSpPr>
          <p:cNvPr id="8" name="Text 6"/>
          <p:cNvSpPr/>
          <p:nvPr/>
        </p:nvSpPr>
        <p:spPr>
          <a:xfrm>
            <a:off x="1234440" y="1362456"/>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Data Acquisition</a:t>
            </a:r>
            <a:endParaRPr lang="en-US" sz="1250" dirty="0"/>
          </a:p>
        </p:txBody>
      </p:sp>
      <p:sp>
        <p:nvSpPr>
          <p:cNvPr id="9" name="Text 7"/>
          <p:cNvSpPr/>
          <p:nvPr/>
        </p:nvSpPr>
        <p:spPr>
          <a:xfrm>
            <a:off x="667512" y="1984248"/>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Merge 9 tables into 1 dataset</a:t>
            </a:r>
            <a:endParaRPr lang="en-US" sz="1050" dirty="0"/>
          </a:p>
        </p:txBody>
      </p:sp>
      <p:sp>
        <p:nvSpPr>
          <p:cNvPr id="10" name="Shape 8"/>
          <p:cNvSpPr/>
          <p:nvPr/>
        </p:nvSpPr>
        <p:spPr>
          <a:xfrm>
            <a:off x="4270248" y="1234440"/>
            <a:ext cx="3639312" cy="1417320"/>
          </a:xfrm>
          <a:prstGeom prst="roundRect">
            <a:avLst>
              <a:gd name="adj" fmla="val 4516"/>
            </a:avLst>
          </a:prstGeom>
          <a:solidFill>
            <a:srgbClr val="EEF3FE"/>
          </a:solidFill>
          <a:ln w="9525">
            <a:solidFill>
              <a:srgbClr val="E3E9F6"/>
            </a:solidFill>
            <a:prstDash val="solid"/>
          </a:ln>
        </p:spPr>
      </p:sp>
      <p:sp>
        <p:nvSpPr>
          <p:cNvPr id="11" name="Shape 9"/>
          <p:cNvSpPr/>
          <p:nvPr/>
        </p:nvSpPr>
        <p:spPr>
          <a:xfrm>
            <a:off x="4434840" y="1399032"/>
            <a:ext cx="457200" cy="457200"/>
          </a:xfrm>
          <a:prstGeom prst="ellipse">
            <a:avLst/>
          </a:prstGeom>
          <a:solidFill>
            <a:srgbClr val="1E2761"/>
          </a:solidFill>
          <a:ln/>
        </p:spPr>
      </p:sp>
      <p:sp>
        <p:nvSpPr>
          <p:cNvPr id="12" name="Text 10"/>
          <p:cNvSpPr/>
          <p:nvPr/>
        </p:nvSpPr>
        <p:spPr>
          <a:xfrm>
            <a:off x="4434840" y="1399032"/>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13" name="Text 11"/>
          <p:cNvSpPr/>
          <p:nvPr/>
        </p:nvSpPr>
        <p:spPr>
          <a:xfrm>
            <a:off x="5001768" y="1362456"/>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Feature Engineering</a:t>
            </a:r>
            <a:endParaRPr lang="en-US" sz="1250" dirty="0"/>
          </a:p>
        </p:txBody>
      </p:sp>
      <p:sp>
        <p:nvSpPr>
          <p:cNvPr id="14" name="Text 12"/>
          <p:cNvSpPr/>
          <p:nvPr/>
        </p:nvSpPr>
        <p:spPr>
          <a:xfrm>
            <a:off x="4434840" y="1984248"/>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RFM, delivery &amp; payment features</a:t>
            </a:r>
            <a:endParaRPr lang="en-US" sz="1050" dirty="0"/>
          </a:p>
        </p:txBody>
      </p:sp>
      <p:sp>
        <p:nvSpPr>
          <p:cNvPr id="15" name="Shape 13"/>
          <p:cNvSpPr/>
          <p:nvPr/>
        </p:nvSpPr>
        <p:spPr>
          <a:xfrm>
            <a:off x="8037576" y="1234440"/>
            <a:ext cx="3639312" cy="1417320"/>
          </a:xfrm>
          <a:prstGeom prst="roundRect">
            <a:avLst>
              <a:gd name="adj" fmla="val 4516"/>
            </a:avLst>
          </a:prstGeom>
          <a:solidFill>
            <a:srgbClr val="EEF3FE"/>
          </a:solidFill>
          <a:ln w="9525">
            <a:solidFill>
              <a:srgbClr val="E3E9F6"/>
            </a:solidFill>
            <a:prstDash val="solid"/>
          </a:ln>
        </p:spPr>
      </p:sp>
      <p:sp>
        <p:nvSpPr>
          <p:cNvPr id="16" name="Shape 14"/>
          <p:cNvSpPr/>
          <p:nvPr/>
        </p:nvSpPr>
        <p:spPr>
          <a:xfrm>
            <a:off x="8202168" y="1399032"/>
            <a:ext cx="457200" cy="457200"/>
          </a:xfrm>
          <a:prstGeom prst="ellipse">
            <a:avLst/>
          </a:prstGeom>
          <a:solidFill>
            <a:srgbClr val="1E2761"/>
          </a:solidFill>
          <a:ln/>
        </p:spPr>
      </p:sp>
      <p:sp>
        <p:nvSpPr>
          <p:cNvPr id="17" name="Text 15"/>
          <p:cNvSpPr/>
          <p:nvPr/>
        </p:nvSpPr>
        <p:spPr>
          <a:xfrm>
            <a:off x="8202168" y="1399032"/>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8" name="Text 16"/>
          <p:cNvSpPr/>
          <p:nvPr/>
        </p:nvSpPr>
        <p:spPr>
          <a:xfrm>
            <a:off x="8769096" y="1362456"/>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Exploratory Data Analysis</a:t>
            </a:r>
            <a:endParaRPr lang="en-US" sz="1250" dirty="0"/>
          </a:p>
        </p:txBody>
      </p:sp>
      <p:sp>
        <p:nvSpPr>
          <p:cNvPr id="19" name="Text 17"/>
          <p:cNvSpPr/>
          <p:nvPr/>
        </p:nvSpPr>
        <p:spPr>
          <a:xfrm>
            <a:off x="8202168" y="1984248"/>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Sales, delivery, satisfaction patterns</a:t>
            </a:r>
            <a:endParaRPr lang="en-US" sz="1050" dirty="0"/>
          </a:p>
        </p:txBody>
      </p:sp>
      <p:sp>
        <p:nvSpPr>
          <p:cNvPr id="20" name="Shape 18"/>
          <p:cNvSpPr/>
          <p:nvPr/>
        </p:nvSpPr>
        <p:spPr>
          <a:xfrm>
            <a:off x="502920" y="2779776"/>
            <a:ext cx="3639312" cy="1417320"/>
          </a:xfrm>
          <a:prstGeom prst="roundRect">
            <a:avLst>
              <a:gd name="adj" fmla="val 4516"/>
            </a:avLst>
          </a:prstGeom>
          <a:solidFill>
            <a:srgbClr val="EEF3FE"/>
          </a:solidFill>
          <a:ln w="9525">
            <a:solidFill>
              <a:srgbClr val="E3E9F6"/>
            </a:solidFill>
            <a:prstDash val="solid"/>
          </a:ln>
        </p:spPr>
      </p:sp>
      <p:sp>
        <p:nvSpPr>
          <p:cNvPr id="21" name="Shape 19"/>
          <p:cNvSpPr/>
          <p:nvPr/>
        </p:nvSpPr>
        <p:spPr>
          <a:xfrm>
            <a:off x="667512" y="2944368"/>
            <a:ext cx="457200" cy="457200"/>
          </a:xfrm>
          <a:prstGeom prst="ellipse">
            <a:avLst/>
          </a:prstGeom>
          <a:solidFill>
            <a:srgbClr val="1E2761"/>
          </a:solidFill>
          <a:ln/>
        </p:spPr>
      </p:sp>
      <p:sp>
        <p:nvSpPr>
          <p:cNvPr id="22" name="Text 20"/>
          <p:cNvSpPr/>
          <p:nvPr/>
        </p:nvSpPr>
        <p:spPr>
          <a:xfrm>
            <a:off x="667512" y="294436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23" name="Text 21"/>
          <p:cNvSpPr/>
          <p:nvPr/>
        </p:nvSpPr>
        <p:spPr>
          <a:xfrm>
            <a:off x="1234440" y="2907792"/>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Customer Segmentation</a:t>
            </a:r>
            <a:endParaRPr lang="en-US" sz="1250" dirty="0"/>
          </a:p>
        </p:txBody>
      </p:sp>
      <p:sp>
        <p:nvSpPr>
          <p:cNvPr id="24" name="Text 22"/>
          <p:cNvSpPr/>
          <p:nvPr/>
        </p:nvSpPr>
        <p:spPr>
          <a:xfrm>
            <a:off x="667512" y="3529584"/>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K-Means → 5 customer segments</a:t>
            </a:r>
            <a:endParaRPr lang="en-US" sz="1050" dirty="0"/>
          </a:p>
        </p:txBody>
      </p:sp>
      <p:sp>
        <p:nvSpPr>
          <p:cNvPr id="25" name="Shape 23"/>
          <p:cNvSpPr/>
          <p:nvPr/>
        </p:nvSpPr>
        <p:spPr>
          <a:xfrm>
            <a:off x="4270248" y="2779776"/>
            <a:ext cx="3639312" cy="1417320"/>
          </a:xfrm>
          <a:prstGeom prst="roundRect">
            <a:avLst>
              <a:gd name="adj" fmla="val 4516"/>
            </a:avLst>
          </a:prstGeom>
          <a:solidFill>
            <a:srgbClr val="EEF3FE"/>
          </a:solidFill>
          <a:ln w="9525">
            <a:solidFill>
              <a:srgbClr val="E3E9F6"/>
            </a:solidFill>
            <a:prstDash val="solid"/>
          </a:ln>
        </p:spPr>
      </p:sp>
      <p:sp>
        <p:nvSpPr>
          <p:cNvPr id="26" name="Shape 24"/>
          <p:cNvSpPr/>
          <p:nvPr/>
        </p:nvSpPr>
        <p:spPr>
          <a:xfrm>
            <a:off x="4434840" y="2944368"/>
            <a:ext cx="457200" cy="457200"/>
          </a:xfrm>
          <a:prstGeom prst="ellipse">
            <a:avLst/>
          </a:prstGeom>
          <a:solidFill>
            <a:srgbClr val="1E2761"/>
          </a:solidFill>
          <a:ln/>
        </p:spPr>
      </p:sp>
      <p:sp>
        <p:nvSpPr>
          <p:cNvPr id="27" name="Text 25"/>
          <p:cNvSpPr/>
          <p:nvPr/>
        </p:nvSpPr>
        <p:spPr>
          <a:xfrm>
            <a:off x="4434840" y="294436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28" name="Text 26"/>
          <p:cNvSpPr/>
          <p:nvPr/>
        </p:nvSpPr>
        <p:spPr>
          <a:xfrm>
            <a:off x="5001768" y="2907792"/>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Sales Forecasting</a:t>
            </a:r>
            <a:endParaRPr lang="en-US" sz="1250" dirty="0"/>
          </a:p>
        </p:txBody>
      </p:sp>
      <p:sp>
        <p:nvSpPr>
          <p:cNvPr id="29" name="Text 27"/>
          <p:cNvSpPr/>
          <p:nvPr/>
        </p:nvSpPr>
        <p:spPr>
          <a:xfrm>
            <a:off x="4434840" y="3529584"/>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ARIMA daily revenue forecasting</a:t>
            </a:r>
            <a:endParaRPr lang="en-US" sz="1050" dirty="0"/>
          </a:p>
        </p:txBody>
      </p:sp>
      <p:sp>
        <p:nvSpPr>
          <p:cNvPr id="30" name="Shape 28"/>
          <p:cNvSpPr/>
          <p:nvPr/>
        </p:nvSpPr>
        <p:spPr>
          <a:xfrm>
            <a:off x="8037576" y="2779776"/>
            <a:ext cx="3639312" cy="1417320"/>
          </a:xfrm>
          <a:prstGeom prst="roundRect">
            <a:avLst>
              <a:gd name="adj" fmla="val 4516"/>
            </a:avLst>
          </a:prstGeom>
          <a:solidFill>
            <a:srgbClr val="EEF3FE"/>
          </a:solidFill>
          <a:ln w="9525">
            <a:solidFill>
              <a:srgbClr val="E3E9F6"/>
            </a:solidFill>
            <a:prstDash val="solid"/>
          </a:ln>
        </p:spPr>
      </p:sp>
      <p:sp>
        <p:nvSpPr>
          <p:cNvPr id="31" name="Shape 29"/>
          <p:cNvSpPr/>
          <p:nvPr/>
        </p:nvSpPr>
        <p:spPr>
          <a:xfrm>
            <a:off x="8202168" y="2944368"/>
            <a:ext cx="457200" cy="457200"/>
          </a:xfrm>
          <a:prstGeom prst="ellipse">
            <a:avLst/>
          </a:prstGeom>
          <a:solidFill>
            <a:srgbClr val="1E2761"/>
          </a:solidFill>
          <a:ln/>
        </p:spPr>
      </p:sp>
      <p:sp>
        <p:nvSpPr>
          <p:cNvPr id="32" name="Text 30"/>
          <p:cNvSpPr/>
          <p:nvPr/>
        </p:nvSpPr>
        <p:spPr>
          <a:xfrm>
            <a:off x="8202168" y="2944368"/>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05</a:t>
            </a:r>
            <a:endParaRPr lang="en-US" sz="1400" dirty="0"/>
          </a:p>
        </p:txBody>
      </p:sp>
      <p:sp>
        <p:nvSpPr>
          <p:cNvPr id="33" name="Text 31"/>
          <p:cNvSpPr/>
          <p:nvPr/>
        </p:nvSpPr>
        <p:spPr>
          <a:xfrm>
            <a:off x="8769096" y="2907792"/>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Delivery Delay Prediction</a:t>
            </a:r>
            <a:endParaRPr lang="en-US" sz="1250" dirty="0"/>
          </a:p>
        </p:txBody>
      </p:sp>
      <p:sp>
        <p:nvSpPr>
          <p:cNvPr id="34" name="Text 32"/>
          <p:cNvSpPr/>
          <p:nvPr/>
        </p:nvSpPr>
        <p:spPr>
          <a:xfrm>
            <a:off x="8202168" y="3529584"/>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Random Forest classifier</a:t>
            </a:r>
            <a:endParaRPr lang="en-US" sz="1050" dirty="0"/>
          </a:p>
        </p:txBody>
      </p:sp>
      <p:sp>
        <p:nvSpPr>
          <p:cNvPr id="35" name="Shape 33"/>
          <p:cNvSpPr/>
          <p:nvPr/>
        </p:nvSpPr>
        <p:spPr>
          <a:xfrm>
            <a:off x="502920" y="4325112"/>
            <a:ext cx="3639312" cy="1417320"/>
          </a:xfrm>
          <a:prstGeom prst="roundRect">
            <a:avLst>
              <a:gd name="adj" fmla="val 4516"/>
            </a:avLst>
          </a:prstGeom>
          <a:solidFill>
            <a:srgbClr val="EEF3FE"/>
          </a:solidFill>
          <a:ln w="9525">
            <a:solidFill>
              <a:srgbClr val="E3E9F6"/>
            </a:solidFill>
            <a:prstDash val="solid"/>
          </a:ln>
        </p:spPr>
      </p:sp>
      <p:sp>
        <p:nvSpPr>
          <p:cNvPr id="36" name="Shape 34"/>
          <p:cNvSpPr/>
          <p:nvPr/>
        </p:nvSpPr>
        <p:spPr>
          <a:xfrm>
            <a:off x="667512" y="4489704"/>
            <a:ext cx="457200" cy="457200"/>
          </a:xfrm>
          <a:prstGeom prst="ellipse">
            <a:avLst/>
          </a:prstGeom>
          <a:solidFill>
            <a:srgbClr val="1E2761"/>
          </a:solidFill>
          <a:ln/>
        </p:spPr>
      </p:sp>
      <p:sp>
        <p:nvSpPr>
          <p:cNvPr id="37" name="Text 35"/>
          <p:cNvSpPr/>
          <p:nvPr/>
        </p:nvSpPr>
        <p:spPr>
          <a:xfrm>
            <a:off x="667512" y="4489704"/>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06</a:t>
            </a:r>
            <a:endParaRPr lang="en-US" sz="1400" dirty="0"/>
          </a:p>
        </p:txBody>
      </p:sp>
      <p:sp>
        <p:nvSpPr>
          <p:cNvPr id="38" name="Text 36"/>
          <p:cNvSpPr/>
          <p:nvPr/>
        </p:nvSpPr>
        <p:spPr>
          <a:xfrm>
            <a:off x="1234440" y="4453128"/>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Customer Satisfaction Prediction</a:t>
            </a:r>
            <a:endParaRPr lang="en-US" sz="1250" dirty="0"/>
          </a:p>
        </p:txBody>
      </p:sp>
      <p:sp>
        <p:nvSpPr>
          <p:cNvPr id="39" name="Text 37"/>
          <p:cNvSpPr/>
          <p:nvPr/>
        </p:nvSpPr>
        <p:spPr>
          <a:xfrm>
            <a:off x="667512" y="5074920"/>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Random Forest classifier</a:t>
            </a:r>
            <a:endParaRPr lang="en-US" sz="1050" dirty="0"/>
          </a:p>
        </p:txBody>
      </p:sp>
      <p:sp>
        <p:nvSpPr>
          <p:cNvPr id="40" name="Shape 38"/>
          <p:cNvSpPr/>
          <p:nvPr/>
        </p:nvSpPr>
        <p:spPr>
          <a:xfrm>
            <a:off x="4270248" y="4325112"/>
            <a:ext cx="3639312" cy="1417320"/>
          </a:xfrm>
          <a:prstGeom prst="roundRect">
            <a:avLst>
              <a:gd name="adj" fmla="val 4516"/>
            </a:avLst>
          </a:prstGeom>
          <a:solidFill>
            <a:srgbClr val="EEF3FE"/>
          </a:solidFill>
          <a:ln w="9525">
            <a:solidFill>
              <a:srgbClr val="E3E9F6"/>
            </a:solidFill>
            <a:prstDash val="solid"/>
          </a:ln>
        </p:spPr>
      </p:sp>
      <p:sp>
        <p:nvSpPr>
          <p:cNvPr id="41" name="Shape 39"/>
          <p:cNvSpPr/>
          <p:nvPr/>
        </p:nvSpPr>
        <p:spPr>
          <a:xfrm>
            <a:off x="4434840" y="4489704"/>
            <a:ext cx="457200" cy="457200"/>
          </a:xfrm>
          <a:prstGeom prst="ellipse">
            <a:avLst/>
          </a:prstGeom>
          <a:solidFill>
            <a:srgbClr val="1E2761"/>
          </a:solidFill>
          <a:ln/>
        </p:spPr>
      </p:sp>
      <p:sp>
        <p:nvSpPr>
          <p:cNvPr id="42" name="Text 40"/>
          <p:cNvSpPr/>
          <p:nvPr/>
        </p:nvSpPr>
        <p:spPr>
          <a:xfrm>
            <a:off x="4434840" y="4489704"/>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07</a:t>
            </a:r>
            <a:endParaRPr lang="en-US" sz="1400" dirty="0"/>
          </a:p>
        </p:txBody>
      </p:sp>
      <p:sp>
        <p:nvSpPr>
          <p:cNvPr id="43" name="Text 41"/>
          <p:cNvSpPr/>
          <p:nvPr/>
        </p:nvSpPr>
        <p:spPr>
          <a:xfrm>
            <a:off x="5001768" y="4453128"/>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Recommendation Engine</a:t>
            </a:r>
            <a:endParaRPr lang="en-US" sz="1250" dirty="0"/>
          </a:p>
        </p:txBody>
      </p:sp>
      <p:sp>
        <p:nvSpPr>
          <p:cNvPr id="44" name="Text 42"/>
          <p:cNvSpPr/>
          <p:nvPr/>
        </p:nvSpPr>
        <p:spPr>
          <a:xfrm>
            <a:off x="4434840" y="5074920"/>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Popularity, cluster &amp; rating-based</a:t>
            </a:r>
            <a:endParaRPr lang="en-US" sz="1050" dirty="0"/>
          </a:p>
        </p:txBody>
      </p:sp>
      <p:sp>
        <p:nvSpPr>
          <p:cNvPr id="45" name="Shape 43"/>
          <p:cNvSpPr/>
          <p:nvPr/>
        </p:nvSpPr>
        <p:spPr>
          <a:xfrm>
            <a:off x="8037576" y="4325112"/>
            <a:ext cx="3639312" cy="1417320"/>
          </a:xfrm>
          <a:prstGeom prst="roundRect">
            <a:avLst>
              <a:gd name="adj" fmla="val 4516"/>
            </a:avLst>
          </a:prstGeom>
          <a:solidFill>
            <a:srgbClr val="EEF3FE"/>
          </a:solidFill>
          <a:ln w="9525">
            <a:solidFill>
              <a:srgbClr val="E3E9F6"/>
            </a:solidFill>
            <a:prstDash val="solid"/>
          </a:ln>
        </p:spPr>
      </p:sp>
      <p:sp>
        <p:nvSpPr>
          <p:cNvPr id="46" name="Shape 44"/>
          <p:cNvSpPr/>
          <p:nvPr/>
        </p:nvSpPr>
        <p:spPr>
          <a:xfrm>
            <a:off x="8202168" y="4489704"/>
            <a:ext cx="457200" cy="457200"/>
          </a:xfrm>
          <a:prstGeom prst="ellipse">
            <a:avLst/>
          </a:prstGeom>
          <a:solidFill>
            <a:srgbClr val="1E2761"/>
          </a:solidFill>
          <a:ln/>
        </p:spPr>
      </p:sp>
      <p:sp>
        <p:nvSpPr>
          <p:cNvPr id="47" name="Text 45"/>
          <p:cNvSpPr/>
          <p:nvPr/>
        </p:nvSpPr>
        <p:spPr>
          <a:xfrm>
            <a:off x="8202168" y="4489704"/>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08</a:t>
            </a:r>
            <a:endParaRPr lang="en-US" sz="1400" dirty="0"/>
          </a:p>
        </p:txBody>
      </p:sp>
      <p:sp>
        <p:nvSpPr>
          <p:cNvPr id="48" name="Text 46"/>
          <p:cNvSpPr/>
          <p:nvPr/>
        </p:nvSpPr>
        <p:spPr>
          <a:xfrm>
            <a:off x="8769096" y="4453128"/>
            <a:ext cx="2770632" cy="5029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Model Explainability</a:t>
            </a:r>
            <a:endParaRPr lang="en-US" sz="1250" dirty="0"/>
          </a:p>
        </p:txBody>
      </p:sp>
      <p:sp>
        <p:nvSpPr>
          <p:cNvPr id="49" name="Text 47"/>
          <p:cNvSpPr/>
          <p:nvPr/>
        </p:nvSpPr>
        <p:spPr>
          <a:xfrm>
            <a:off x="8202168" y="5074920"/>
            <a:ext cx="3319272" cy="548640"/>
          </a:xfrm>
          <a:prstGeom prst="rect">
            <a:avLst/>
          </a:prstGeom>
          <a:noFill/>
          <a:ln/>
        </p:spPr>
        <p:txBody>
          <a:bodyPr wrap="square" rtlCol="0" anchor="t"/>
          <a:lstStyle/>
          <a:p>
            <a:pPr marL="0" indent="0">
              <a:buNone/>
            </a:pPr>
            <a:r>
              <a:rPr lang="en-US" sz="1050" dirty="0">
                <a:solidFill>
                  <a:srgbClr val="5B6479"/>
                </a:solidFill>
                <a:latin typeface="Calibri" pitchFamily="34" charset="0"/>
                <a:ea typeface="Calibri" pitchFamily="34" charset="-122"/>
                <a:cs typeface="Calibri" pitchFamily="34" charset="-120"/>
              </a:rPr>
              <a:t>Feature-importance analysis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Seven-Step Machine Learning Lifecycle</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02920" y="2148840"/>
            <a:ext cx="1517904" cy="1371600"/>
          </a:xfrm>
          <a:prstGeom prst="roundRect">
            <a:avLst>
              <a:gd name="adj" fmla="val 4667"/>
            </a:avLst>
          </a:prstGeom>
          <a:solidFill>
            <a:srgbClr val="1E2761"/>
          </a:solidFill>
          <a:ln/>
        </p:spPr>
      </p:sp>
      <p:sp>
        <p:nvSpPr>
          <p:cNvPr id="6" name="Text 4"/>
          <p:cNvSpPr/>
          <p:nvPr/>
        </p:nvSpPr>
        <p:spPr>
          <a:xfrm>
            <a:off x="502920"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576072"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Acquisition</a:t>
            </a:r>
            <a:endParaRPr lang="en-US" sz="1000" dirty="0"/>
          </a:p>
        </p:txBody>
      </p:sp>
      <p:sp>
        <p:nvSpPr>
          <p:cNvPr id="8" name="Shape 6"/>
          <p:cNvSpPr/>
          <p:nvPr/>
        </p:nvSpPr>
        <p:spPr>
          <a:xfrm rot="5400000">
            <a:off x="2002536" y="2770632"/>
            <a:ext cx="128016" cy="128016"/>
          </a:xfrm>
          <a:prstGeom prst="triangle">
            <a:avLst/>
          </a:prstGeom>
          <a:solidFill>
            <a:srgbClr val="F2A63C"/>
          </a:solidFill>
          <a:ln/>
        </p:spPr>
      </p:sp>
      <p:sp>
        <p:nvSpPr>
          <p:cNvPr id="9" name="Text 7"/>
          <p:cNvSpPr/>
          <p:nvPr/>
        </p:nvSpPr>
        <p:spPr>
          <a:xfrm>
            <a:off x="502920"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Merge 9 Olist tables via relational keys</a:t>
            </a:r>
            <a:endParaRPr lang="en-US" sz="950" dirty="0"/>
          </a:p>
        </p:txBody>
      </p:sp>
      <p:sp>
        <p:nvSpPr>
          <p:cNvPr id="10" name="Shape 8"/>
          <p:cNvSpPr/>
          <p:nvPr/>
        </p:nvSpPr>
        <p:spPr>
          <a:xfrm>
            <a:off x="2075688" y="2148840"/>
            <a:ext cx="1517904" cy="1371600"/>
          </a:xfrm>
          <a:prstGeom prst="roundRect">
            <a:avLst>
              <a:gd name="adj" fmla="val 4667"/>
            </a:avLst>
          </a:prstGeom>
          <a:solidFill>
            <a:srgbClr val="141B49"/>
          </a:solidFill>
          <a:ln/>
        </p:spPr>
      </p:sp>
      <p:sp>
        <p:nvSpPr>
          <p:cNvPr id="11" name="Text 9"/>
          <p:cNvSpPr/>
          <p:nvPr/>
        </p:nvSpPr>
        <p:spPr>
          <a:xfrm>
            <a:off x="2075688"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148840"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Preprocessing</a:t>
            </a:r>
            <a:endParaRPr lang="en-US" sz="1000" dirty="0"/>
          </a:p>
        </p:txBody>
      </p:sp>
      <p:sp>
        <p:nvSpPr>
          <p:cNvPr id="13" name="Shape 11"/>
          <p:cNvSpPr/>
          <p:nvPr/>
        </p:nvSpPr>
        <p:spPr>
          <a:xfrm rot="5400000">
            <a:off x="3575304" y="2770632"/>
            <a:ext cx="128016" cy="128016"/>
          </a:xfrm>
          <a:prstGeom prst="triangle">
            <a:avLst/>
          </a:prstGeom>
          <a:solidFill>
            <a:srgbClr val="F2A63C"/>
          </a:solidFill>
          <a:ln/>
        </p:spPr>
      </p:sp>
      <p:sp>
        <p:nvSpPr>
          <p:cNvPr id="14" name="Text 12"/>
          <p:cNvSpPr/>
          <p:nvPr/>
        </p:nvSpPr>
        <p:spPr>
          <a:xfrm>
            <a:off x="2075688"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Handle missing values, remove duplicates</a:t>
            </a:r>
            <a:endParaRPr lang="en-US" sz="950" dirty="0"/>
          </a:p>
        </p:txBody>
      </p:sp>
      <p:sp>
        <p:nvSpPr>
          <p:cNvPr id="15" name="Shape 13"/>
          <p:cNvSpPr/>
          <p:nvPr/>
        </p:nvSpPr>
        <p:spPr>
          <a:xfrm>
            <a:off x="3648456" y="2148840"/>
            <a:ext cx="1517904" cy="1371600"/>
          </a:xfrm>
          <a:prstGeom prst="roundRect">
            <a:avLst>
              <a:gd name="adj" fmla="val 4667"/>
            </a:avLst>
          </a:prstGeom>
          <a:solidFill>
            <a:srgbClr val="1E2761"/>
          </a:solidFill>
          <a:ln/>
        </p:spPr>
      </p:sp>
      <p:sp>
        <p:nvSpPr>
          <p:cNvPr id="16" name="Text 14"/>
          <p:cNvSpPr/>
          <p:nvPr/>
        </p:nvSpPr>
        <p:spPr>
          <a:xfrm>
            <a:off x="3648456"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3721608"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Exploratory Data Analysis</a:t>
            </a:r>
            <a:endParaRPr lang="en-US" sz="1000" dirty="0"/>
          </a:p>
        </p:txBody>
      </p:sp>
      <p:sp>
        <p:nvSpPr>
          <p:cNvPr id="18" name="Shape 16"/>
          <p:cNvSpPr/>
          <p:nvPr/>
        </p:nvSpPr>
        <p:spPr>
          <a:xfrm rot="5400000">
            <a:off x="5148072" y="2770632"/>
            <a:ext cx="128016" cy="128016"/>
          </a:xfrm>
          <a:prstGeom prst="triangle">
            <a:avLst/>
          </a:prstGeom>
          <a:solidFill>
            <a:srgbClr val="F2A63C"/>
          </a:solidFill>
          <a:ln/>
        </p:spPr>
      </p:sp>
      <p:sp>
        <p:nvSpPr>
          <p:cNvPr id="19" name="Text 17"/>
          <p:cNvSpPr/>
          <p:nvPr/>
        </p:nvSpPr>
        <p:spPr>
          <a:xfrm>
            <a:off x="3648456"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Uncover sales, delivery &amp; behaviour patterns</a:t>
            </a:r>
            <a:endParaRPr lang="en-US" sz="950" dirty="0"/>
          </a:p>
        </p:txBody>
      </p:sp>
      <p:sp>
        <p:nvSpPr>
          <p:cNvPr id="20" name="Shape 18"/>
          <p:cNvSpPr/>
          <p:nvPr/>
        </p:nvSpPr>
        <p:spPr>
          <a:xfrm>
            <a:off x="5221224" y="2148840"/>
            <a:ext cx="1517904" cy="1371600"/>
          </a:xfrm>
          <a:prstGeom prst="roundRect">
            <a:avLst>
              <a:gd name="adj" fmla="val 4667"/>
            </a:avLst>
          </a:prstGeom>
          <a:solidFill>
            <a:srgbClr val="141B49"/>
          </a:solidFill>
          <a:ln/>
        </p:spPr>
      </p:sp>
      <p:sp>
        <p:nvSpPr>
          <p:cNvPr id="21" name="Text 19"/>
          <p:cNvSpPr/>
          <p:nvPr/>
        </p:nvSpPr>
        <p:spPr>
          <a:xfrm>
            <a:off x="5221224"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5294376"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Feature Engineering</a:t>
            </a:r>
            <a:endParaRPr lang="en-US" sz="1000" dirty="0"/>
          </a:p>
        </p:txBody>
      </p:sp>
      <p:sp>
        <p:nvSpPr>
          <p:cNvPr id="23" name="Shape 21"/>
          <p:cNvSpPr/>
          <p:nvPr/>
        </p:nvSpPr>
        <p:spPr>
          <a:xfrm rot="5400000">
            <a:off x="6720840" y="2770632"/>
            <a:ext cx="128016" cy="128016"/>
          </a:xfrm>
          <a:prstGeom prst="triangle">
            <a:avLst/>
          </a:prstGeom>
          <a:solidFill>
            <a:srgbClr val="F2A63C"/>
          </a:solidFill>
          <a:ln/>
        </p:spPr>
      </p:sp>
      <p:sp>
        <p:nvSpPr>
          <p:cNvPr id="24" name="Text 22"/>
          <p:cNvSpPr/>
          <p:nvPr/>
        </p:nvSpPr>
        <p:spPr>
          <a:xfrm>
            <a:off x="5221224"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Delivery, RFM, and payment-based features</a:t>
            </a:r>
            <a:endParaRPr lang="en-US" sz="950" dirty="0"/>
          </a:p>
        </p:txBody>
      </p:sp>
      <p:sp>
        <p:nvSpPr>
          <p:cNvPr id="25" name="Shape 23"/>
          <p:cNvSpPr/>
          <p:nvPr/>
        </p:nvSpPr>
        <p:spPr>
          <a:xfrm>
            <a:off x="6793992" y="2148840"/>
            <a:ext cx="1517904" cy="1371600"/>
          </a:xfrm>
          <a:prstGeom prst="roundRect">
            <a:avLst>
              <a:gd name="adj" fmla="val 4667"/>
            </a:avLst>
          </a:prstGeom>
          <a:solidFill>
            <a:srgbClr val="1E2761"/>
          </a:solidFill>
          <a:ln/>
        </p:spPr>
      </p:sp>
      <p:sp>
        <p:nvSpPr>
          <p:cNvPr id="26" name="Text 24"/>
          <p:cNvSpPr/>
          <p:nvPr/>
        </p:nvSpPr>
        <p:spPr>
          <a:xfrm>
            <a:off x="6793992"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6867144"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Model Development</a:t>
            </a:r>
            <a:endParaRPr lang="en-US" sz="1000" dirty="0"/>
          </a:p>
        </p:txBody>
      </p:sp>
      <p:sp>
        <p:nvSpPr>
          <p:cNvPr id="28" name="Shape 26"/>
          <p:cNvSpPr/>
          <p:nvPr/>
        </p:nvSpPr>
        <p:spPr>
          <a:xfrm rot="5400000">
            <a:off x="8293608" y="2770632"/>
            <a:ext cx="128016" cy="128016"/>
          </a:xfrm>
          <a:prstGeom prst="triangle">
            <a:avLst/>
          </a:prstGeom>
          <a:solidFill>
            <a:srgbClr val="F2A63C"/>
          </a:solidFill>
          <a:ln/>
        </p:spPr>
      </p:sp>
      <p:sp>
        <p:nvSpPr>
          <p:cNvPr id="29" name="Text 27"/>
          <p:cNvSpPr/>
          <p:nvPr/>
        </p:nvSpPr>
        <p:spPr>
          <a:xfrm>
            <a:off x="6793992"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Train &amp; compare models per module</a:t>
            </a:r>
            <a:endParaRPr lang="en-US" sz="950" dirty="0"/>
          </a:p>
        </p:txBody>
      </p:sp>
      <p:sp>
        <p:nvSpPr>
          <p:cNvPr id="30" name="Shape 28"/>
          <p:cNvSpPr/>
          <p:nvPr/>
        </p:nvSpPr>
        <p:spPr>
          <a:xfrm>
            <a:off x="8366760" y="2148840"/>
            <a:ext cx="1517904" cy="1371600"/>
          </a:xfrm>
          <a:prstGeom prst="roundRect">
            <a:avLst>
              <a:gd name="adj" fmla="val 4667"/>
            </a:avLst>
          </a:prstGeom>
          <a:solidFill>
            <a:srgbClr val="141B49"/>
          </a:solidFill>
          <a:ln/>
        </p:spPr>
      </p:sp>
      <p:sp>
        <p:nvSpPr>
          <p:cNvPr id="31" name="Text 29"/>
          <p:cNvSpPr/>
          <p:nvPr/>
        </p:nvSpPr>
        <p:spPr>
          <a:xfrm>
            <a:off x="8366760"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6</a:t>
            </a:r>
            <a:endParaRPr lang="en-US" sz="2200" dirty="0"/>
          </a:p>
        </p:txBody>
      </p:sp>
      <p:sp>
        <p:nvSpPr>
          <p:cNvPr id="32" name="Text 30"/>
          <p:cNvSpPr/>
          <p:nvPr/>
        </p:nvSpPr>
        <p:spPr>
          <a:xfrm>
            <a:off x="8439912"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Model Explainability</a:t>
            </a:r>
            <a:endParaRPr lang="en-US" sz="1000" dirty="0"/>
          </a:p>
        </p:txBody>
      </p:sp>
      <p:sp>
        <p:nvSpPr>
          <p:cNvPr id="33" name="Shape 31"/>
          <p:cNvSpPr/>
          <p:nvPr/>
        </p:nvSpPr>
        <p:spPr>
          <a:xfrm rot="5400000">
            <a:off x="9866376" y="2770632"/>
            <a:ext cx="128016" cy="128016"/>
          </a:xfrm>
          <a:prstGeom prst="triangle">
            <a:avLst/>
          </a:prstGeom>
          <a:solidFill>
            <a:srgbClr val="F2A63C"/>
          </a:solidFill>
          <a:ln/>
        </p:spPr>
      </p:sp>
      <p:sp>
        <p:nvSpPr>
          <p:cNvPr id="34" name="Text 32"/>
          <p:cNvSpPr/>
          <p:nvPr/>
        </p:nvSpPr>
        <p:spPr>
          <a:xfrm>
            <a:off x="8366760"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Random Forest feature-importance analysis</a:t>
            </a:r>
            <a:endParaRPr lang="en-US" sz="950" dirty="0"/>
          </a:p>
        </p:txBody>
      </p:sp>
      <p:sp>
        <p:nvSpPr>
          <p:cNvPr id="35" name="Shape 33"/>
          <p:cNvSpPr/>
          <p:nvPr/>
        </p:nvSpPr>
        <p:spPr>
          <a:xfrm>
            <a:off x="9939528" y="2148840"/>
            <a:ext cx="1517904" cy="1371600"/>
          </a:xfrm>
          <a:prstGeom prst="roundRect">
            <a:avLst>
              <a:gd name="adj" fmla="val 4667"/>
            </a:avLst>
          </a:prstGeom>
          <a:solidFill>
            <a:srgbClr val="1E2761"/>
          </a:solidFill>
          <a:ln/>
        </p:spPr>
      </p:sp>
      <p:sp>
        <p:nvSpPr>
          <p:cNvPr id="36" name="Text 34"/>
          <p:cNvSpPr/>
          <p:nvPr/>
        </p:nvSpPr>
        <p:spPr>
          <a:xfrm>
            <a:off x="9939528" y="2221992"/>
            <a:ext cx="1517904" cy="457200"/>
          </a:xfrm>
          <a:prstGeom prst="rect">
            <a:avLst/>
          </a:prstGeom>
          <a:noFill/>
          <a:ln/>
        </p:spPr>
        <p:txBody>
          <a:bodyPr wrap="square" rtlCol="0" anchor="ctr"/>
          <a:lstStyle/>
          <a:p>
            <a:pPr marL="0" indent="0" algn="ctr">
              <a:buNone/>
            </a:pPr>
            <a:r>
              <a:rPr lang="en-US" sz="2200" b="1" dirty="0">
                <a:solidFill>
                  <a:srgbClr val="F2A63C"/>
                </a:solidFill>
                <a:latin typeface="Cambria" pitchFamily="34" charset="0"/>
                <a:ea typeface="Cambria" pitchFamily="34" charset="-122"/>
                <a:cs typeface="Cambria" pitchFamily="34" charset="-120"/>
              </a:rPr>
              <a:t>7</a:t>
            </a:r>
            <a:endParaRPr lang="en-US" sz="2200" dirty="0"/>
          </a:p>
        </p:txBody>
      </p:sp>
      <p:sp>
        <p:nvSpPr>
          <p:cNvPr id="37" name="Text 35"/>
          <p:cNvSpPr/>
          <p:nvPr/>
        </p:nvSpPr>
        <p:spPr>
          <a:xfrm>
            <a:off x="10012680" y="2679192"/>
            <a:ext cx="1371600" cy="4572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Dashboard Deployment</a:t>
            </a:r>
            <a:endParaRPr lang="en-US" sz="1000" dirty="0"/>
          </a:p>
        </p:txBody>
      </p:sp>
      <p:sp>
        <p:nvSpPr>
          <p:cNvPr id="38" name="Text 36"/>
          <p:cNvSpPr/>
          <p:nvPr/>
        </p:nvSpPr>
        <p:spPr>
          <a:xfrm>
            <a:off x="9939528" y="3630168"/>
            <a:ext cx="1792224" cy="822960"/>
          </a:xfrm>
          <a:prstGeom prst="rect">
            <a:avLst/>
          </a:prstGeom>
          <a:noFill/>
          <a:ln/>
        </p:spPr>
        <p:txBody>
          <a:bodyPr wrap="square" rtlCol="0" anchor="ctr"/>
          <a:lstStyle/>
          <a:p>
            <a:pPr marL="0" indent="0" algn="l">
              <a:buNone/>
            </a:pPr>
            <a:r>
              <a:rPr lang="en-US" sz="950" dirty="0">
                <a:solidFill>
                  <a:srgbClr val="5B6479"/>
                </a:solidFill>
                <a:latin typeface="Calibri" pitchFamily="34" charset="0"/>
                <a:ea typeface="Calibri" pitchFamily="34" charset="-122"/>
                <a:cs typeface="Calibri" pitchFamily="34" charset="-120"/>
              </a:rPr>
              <a:t>Streamlit app integrating all modules</a:t>
            </a:r>
            <a:endParaRPr lang="en-US" sz="950" dirty="0"/>
          </a:p>
        </p:txBody>
      </p:sp>
      <p:sp>
        <p:nvSpPr>
          <p:cNvPr id="39" name="Text 37"/>
          <p:cNvSpPr/>
          <p:nvPr/>
        </p:nvSpPr>
        <p:spPr>
          <a:xfrm>
            <a:off x="502920" y="1051560"/>
            <a:ext cx="10789920" cy="457200"/>
          </a:xfrm>
          <a:prstGeom prst="rect">
            <a:avLst/>
          </a:prstGeom>
          <a:noFill/>
          <a:ln/>
        </p:spPr>
        <p:txBody>
          <a:bodyPr wrap="square" rtlCol="0" anchor="ctr"/>
          <a:lstStyle/>
          <a:p>
            <a:pPr marL="0" indent="0">
              <a:buNone/>
            </a:pPr>
            <a:r>
              <a:rPr lang="en-US" sz="1300" i="1" dirty="0">
                <a:solidFill>
                  <a:srgbClr val="5B6479"/>
                </a:solidFill>
                <a:latin typeface="Calibri" pitchFamily="34" charset="0"/>
                <a:ea typeface="Calibri" pitchFamily="34" charset="-122"/>
                <a:cs typeface="Calibri" pitchFamily="34" charset="-120"/>
              </a:rPr>
              <a:t>Every one of the seven steps was completed for all nine modules — this lifecycle is the backbone of the results on the following slides.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02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EDA — Sales Growth &amp; Delivery Performance</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6</a:t>
            </a:r>
            <a:endParaRPr lang="en-US" sz="900" dirty="0"/>
          </a:p>
        </p:txBody>
      </p:sp>
      <p:pic>
        <p:nvPicPr>
          <p:cNvPr id="5" name="Image 0" descr="assets/fig01_order_volume.png"/>
          <p:cNvPicPr>
            <a:picLocks noChangeAspect="1"/>
          </p:cNvPicPr>
          <p:nvPr/>
        </p:nvPicPr>
        <p:blipFill>
          <a:blip r:embed="rId3"/>
          <a:stretch>
            <a:fillRect/>
          </a:stretch>
        </p:blipFill>
        <p:spPr>
          <a:xfrm>
            <a:off x="557120" y="1143000"/>
            <a:ext cx="5377999" cy="2331720"/>
          </a:xfrm>
          <a:prstGeom prst="rect">
            <a:avLst/>
          </a:prstGeom>
        </p:spPr>
      </p:pic>
      <p:sp>
        <p:nvSpPr>
          <p:cNvPr id="6" name="Text 3"/>
          <p:cNvSpPr/>
          <p:nvPr/>
        </p:nvSpPr>
        <p:spPr>
          <a:xfrm>
            <a:off x="502920" y="3520440"/>
            <a:ext cx="548640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Figure: Monthly order volume, Sep 2016 – Aug 2018</a:t>
            </a:r>
            <a:endParaRPr lang="en-US" sz="1100" dirty="0"/>
          </a:p>
        </p:txBody>
      </p:sp>
      <p:pic>
        <p:nvPicPr>
          <p:cNvPr id="7" name="Image 1" descr="assets/fig03_delivery_time_dist.png"/>
          <p:cNvPicPr>
            <a:picLocks noChangeAspect="1"/>
          </p:cNvPicPr>
          <p:nvPr/>
        </p:nvPicPr>
        <p:blipFill>
          <a:blip r:embed="rId4"/>
          <a:stretch>
            <a:fillRect/>
          </a:stretch>
        </p:blipFill>
        <p:spPr>
          <a:xfrm>
            <a:off x="1123159" y="3886200"/>
            <a:ext cx="4245922" cy="2103120"/>
          </a:xfrm>
          <a:prstGeom prst="rect">
            <a:avLst/>
          </a:prstGeom>
        </p:spPr>
      </p:pic>
      <p:sp>
        <p:nvSpPr>
          <p:cNvPr id="8" name="Text 4"/>
          <p:cNvSpPr/>
          <p:nvPr/>
        </p:nvSpPr>
        <p:spPr>
          <a:xfrm>
            <a:off x="502920" y="6035040"/>
            <a:ext cx="548640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Figure: Distribution of delivery time (days)</a:t>
            </a:r>
            <a:endParaRPr lang="en-US" sz="1100" dirty="0"/>
          </a:p>
        </p:txBody>
      </p:sp>
      <p:sp>
        <p:nvSpPr>
          <p:cNvPr id="9" name="Shape 5"/>
          <p:cNvSpPr/>
          <p:nvPr/>
        </p:nvSpPr>
        <p:spPr>
          <a:xfrm>
            <a:off x="6263640" y="1143000"/>
            <a:ext cx="5422392" cy="5166360"/>
          </a:xfrm>
          <a:prstGeom prst="roundRect">
            <a:avLst>
              <a:gd name="adj" fmla="val 1416"/>
            </a:avLst>
          </a:prstGeom>
          <a:solidFill>
            <a:srgbClr val="EEF3FE"/>
          </a:solidFill>
          <a:ln/>
        </p:spPr>
      </p:sp>
      <p:sp>
        <p:nvSpPr>
          <p:cNvPr id="10" name="Text 6"/>
          <p:cNvSpPr/>
          <p:nvPr/>
        </p:nvSpPr>
        <p:spPr>
          <a:xfrm>
            <a:off x="6492240" y="1280160"/>
            <a:ext cx="4937760" cy="365760"/>
          </a:xfrm>
          <a:prstGeom prst="rect">
            <a:avLst/>
          </a:prstGeom>
          <a:noFill/>
          <a:ln/>
        </p:spPr>
        <p:txBody>
          <a:bodyPr wrap="square"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Key Findings</a:t>
            </a:r>
            <a:endParaRPr lang="en-US" sz="1600" dirty="0"/>
          </a:p>
        </p:txBody>
      </p:sp>
      <p:sp>
        <p:nvSpPr>
          <p:cNvPr id="11" name="Text 7"/>
          <p:cNvSpPr/>
          <p:nvPr/>
        </p:nvSpPr>
        <p:spPr>
          <a:xfrm>
            <a:off x="6492240" y="1691640"/>
            <a:ext cx="4937760" cy="4114800"/>
          </a:xfrm>
          <a:prstGeom prst="rect">
            <a:avLst/>
          </a:prstGeom>
          <a:noFill/>
          <a:ln/>
        </p:spPr>
        <p:txBody>
          <a:bodyPr wrap="square" rtlCol="0" anchor="t"/>
          <a:lstStyle/>
          <a:p>
            <a:pPr marL="177800" indent="-177800">
              <a:spcAft>
                <a:spcPts val="1200"/>
              </a:spcAft>
              <a:buSzPct val="100000"/>
              <a:buChar char="•"/>
            </a:pPr>
            <a:r>
              <a:rPr lang="en-US" sz="1250" dirty="0">
                <a:solidFill>
                  <a:srgbClr val="1B2033"/>
                </a:solidFill>
                <a:latin typeface="Calibri" pitchFamily="34" charset="0"/>
                <a:ea typeface="Calibri" pitchFamily="34" charset="-122"/>
                <a:cs typeface="Calibri" pitchFamily="34" charset="-120"/>
              </a:rPr>
              <a:t>Order volume grew from a handful of pilot orders in late 2016 to a stable plateau of 6,000–7,200 orders/month by mid-2017</a:t>
            </a:r>
            <a:endParaRPr lang="en-US" sz="1250" dirty="0"/>
          </a:p>
          <a:p>
            <a:pPr marL="177800" indent="-177800">
              <a:spcAft>
                <a:spcPts val="1200"/>
              </a:spcAft>
              <a:buSzPct val="100000"/>
              <a:buChar char="•"/>
            </a:pPr>
            <a:r>
              <a:rPr lang="en-US" sz="1250" dirty="0">
                <a:solidFill>
                  <a:srgbClr val="1B2033"/>
                </a:solidFill>
                <a:latin typeface="Calibri" pitchFamily="34" charset="0"/>
                <a:ea typeface="Calibri" pitchFamily="34" charset="-122"/>
                <a:cs typeface="Calibri" pitchFamily="34" charset="-120"/>
              </a:rPr>
              <a:t>A clear Black Friday peak of 7,400+ orders in November 2017</a:t>
            </a:r>
            <a:endParaRPr lang="en-US" sz="1250" dirty="0"/>
          </a:p>
          <a:p>
            <a:pPr marL="177800" indent="-177800">
              <a:spcAft>
                <a:spcPts val="1200"/>
              </a:spcAft>
              <a:buSzPct val="100000"/>
              <a:buChar char="•"/>
            </a:pPr>
            <a:r>
              <a:rPr lang="en-US" sz="1250" dirty="0">
                <a:solidFill>
                  <a:srgbClr val="1B2033"/>
                </a:solidFill>
                <a:latin typeface="Calibri" pitchFamily="34" charset="0"/>
                <a:ea typeface="Calibri" pitchFamily="34" charset="-122"/>
                <a:cs typeface="Calibri" pitchFamily="34" charset="-120"/>
              </a:rPr>
              <a:t>Delivery time is right-skewed: median ≈ 10 days, but a long tail exceeds 100 days in rare cases</a:t>
            </a:r>
            <a:endParaRPr lang="en-US" sz="1250" dirty="0"/>
          </a:p>
          <a:p>
            <a:pPr marL="177800" indent="-177800">
              <a:spcAft>
                <a:spcPts val="1200"/>
              </a:spcAft>
              <a:buSzPct val="100000"/>
              <a:buChar char="•"/>
            </a:pPr>
            <a:r>
              <a:rPr lang="en-US" sz="1250" dirty="0">
                <a:solidFill>
                  <a:srgbClr val="1B2033"/>
                </a:solidFill>
                <a:latin typeface="Calibri" pitchFamily="34" charset="0"/>
                <a:ea typeface="Calibri" pitchFamily="34" charset="-122"/>
                <a:cs typeface="Calibri" pitchFamily="34" charset="-120"/>
              </a:rPr>
              <a:t>This skew directly shaped feature choices in the delivery-delay and satisfaction models (Modules 05–06)</a:t>
            </a:r>
            <a:endParaRPr lang="en-US" sz="1250" dirty="0"/>
          </a:p>
        </p:txBody>
      </p:sp>
      <p:sp>
        <p:nvSpPr>
          <p:cNvPr id="12" name="Shape 8"/>
          <p:cNvSpPr/>
          <p:nvPr/>
        </p:nvSpPr>
        <p:spPr>
          <a:xfrm>
            <a:off x="6492240" y="5212080"/>
            <a:ext cx="2560320" cy="960120"/>
          </a:xfrm>
          <a:prstGeom prst="roundRect">
            <a:avLst>
              <a:gd name="adj" fmla="val 7619"/>
            </a:avLst>
          </a:prstGeom>
          <a:solidFill>
            <a:srgbClr val="141B49"/>
          </a:solidFill>
          <a:ln w="9525">
            <a:solidFill>
              <a:srgbClr val="E3E9F6"/>
            </a:solidFill>
            <a:prstDash val="solid"/>
          </a:ln>
          <a:effectLst>
            <a:outerShdw blurRad="76200" dist="25400" dir="5400000" algn="bl" rotWithShape="0">
              <a:srgbClr val="999999">
                <a:alpha val="18000"/>
              </a:srgbClr>
            </a:outerShdw>
          </a:effectLst>
        </p:spPr>
      </p:sp>
      <p:sp>
        <p:nvSpPr>
          <p:cNvPr id="13" name="Text 9"/>
          <p:cNvSpPr/>
          <p:nvPr/>
        </p:nvSpPr>
        <p:spPr>
          <a:xfrm>
            <a:off x="6601968" y="5303520"/>
            <a:ext cx="2340864" cy="528066"/>
          </a:xfrm>
          <a:prstGeom prst="rect">
            <a:avLst/>
          </a:prstGeom>
          <a:noFill/>
          <a:ln/>
        </p:spPr>
        <p:txBody>
          <a:bodyPr wrap="square" rtlCol="0" anchor="b"/>
          <a:lstStyle/>
          <a:p>
            <a:pPr marL="0" indent="0" algn="ctr">
              <a:buNone/>
            </a:pPr>
            <a:r>
              <a:rPr lang="en-US" sz="2400" b="1" dirty="0">
                <a:solidFill>
                  <a:srgbClr val="FFFFFF"/>
                </a:solidFill>
                <a:latin typeface="Cambria" pitchFamily="34" charset="0"/>
                <a:ea typeface="Cambria" pitchFamily="34" charset="-122"/>
                <a:cs typeface="Cambria" pitchFamily="34" charset="-120"/>
              </a:rPr>
              <a:t>10 days</a:t>
            </a:r>
            <a:endParaRPr lang="en-US" sz="2400" dirty="0"/>
          </a:p>
        </p:txBody>
      </p:sp>
      <p:sp>
        <p:nvSpPr>
          <p:cNvPr id="14" name="Text 10"/>
          <p:cNvSpPr/>
          <p:nvPr/>
        </p:nvSpPr>
        <p:spPr>
          <a:xfrm>
            <a:off x="6601968" y="5788152"/>
            <a:ext cx="2340864" cy="364846"/>
          </a:xfrm>
          <a:prstGeom prst="rect">
            <a:avLst/>
          </a:prstGeom>
          <a:noFill/>
          <a:ln/>
        </p:spPr>
        <p:txBody>
          <a:bodyPr wrap="square"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Median Delivery Time</a:t>
            </a:r>
            <a:endParaRPr lang="en-US" sz="1050" dirty="0"/>
          </a:p>
        </p:txBody>
      </p:sp>
      <p:sp>
        <p:nvSpPr>
          <p:cNvPr id="15" name="Shape 11"/>
          <p:cNvSpPr/>
          <p:nvPr/>
        </p:nvSpPr>
        <p:spPr>
          <a:xfrm>
            <a:off x="9189720" y="5212080"/>
            <a:ext cx="2468880" cy="960120"/>
          </a:xfrm>
          <a:prstGeom prst="roundRect">
            <a:avLst>
              <a:gd name="adj" fmla="val 7619"/>
            </a:avLst>
          </a:prstGeom>
          <a:solidFill>
            <a:srgbClr val="141B49"/>
          </a:solidFill>
          <a:ln w="9525">
            <a:solidFill>
              <a:srgbClr val="E3E9F6"/>
            </a:solidFill>
            <a:prstDash val="solid"/>
          </a:ln>
          <a:effectLst>
            <a:outerShdw blurRad="76200" dist="25400" dir="5400000" algn="bl" rotWithShape="0">
              <a:srgbClr val="999999">
                <a:alpha val="18000"/>
              </a:srgbClr>
            </a:outerShdw>
          </a:effectLst>
        </p:spPr>
      </p:sp>
      <p:sp>
        <p:nvSpPr>
          <p:cNvPr id="16" name="Text 12"/>
          <p:cNvSpPr/>
          <p:nvPr/>
        </p:nvSpPr>
        <p:spPr>
          <a:xfrm>
            <a:off x="9299448" y="5303520"/>
            <a:ext cx="2249424" cy="528066"/>
          </a:xfrm>
          <a:prstGeom prst="rect">
            <a:avLst/>
          </a:prstGeom>
          <a:noFill/>
          <a:ln/>
        </p:spPr>
        <p:txBody>
          <a:bodyPr wrap="square" rtlCol="0" anchor="b"/>
          <a:lstStyle/>
          <a:p>
            <a:pPr marL="0" indent="0" algn="ctr">
              <a:buNone/>
            </a:pPr>
            <a:r>
              <a:rPr lang="en-US" sz="2400" b="1" dirty="0">
                <a:solidFill>
                  <a:srgbClr val="FFFFFF"/>
                </a:solidFill>
                <a:latin typeface="Cambria" pitchFamily="34" charset="0"/>
                <a:ea typeface="Cambria" pitchFamily="34" charset="-122"/>
                <a:cs typeface="Cambria" pitchFamily="34" charset="-120"/>
              </a:rPr>
              <a:t>6.5%</a:t>
            </a:r>
            <a:endParaRPr lang="en-US" sz="2400" dirty="0"/>
          </a:p>
        </p:txBody>
      </p:sp>
      <p:sp>
        <p:nvSpPr>
          <p:cNvPr id="17" name="Text 13"/>
          <p:cNvSpPr/>
          <p:nvPr/>
        </p:nvSpPr>
        <p:spPr>
          <a:xfrm>
            <a:off x="9299448" y="5788152"/>
            <a:ext cx="2249424" cy="364846"/>
          </a:xfrm>
          <a:prstGeom prst="rect">
            <a:avLst/>
          </a:prstGeom>
          <a:noFill/>
          <a:ln/>
        </p:spPr>
        <p:txBody>
          <a:bodyPr wrap="square"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Orders Delivered Late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02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EDA — Customer Satisfaction, Geography &amp; Payments</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7</a:t>
            </a:r>
            <a:endParaRPr lang="en-US" sz="900" dirty="0"/>
          </a:p>
        </p:txBody>
      </p:sp>
      <p:pic>
        <p:nvPicPr>
          <p:cNvPr id="5" name="Image 0" descr="assets/fig04_review_score_dist.png"/>
          <p:cNvPicPr>
            <a:picLocks noChangeAspect="1"/>
          </p:cNvPicPr>
          <p:nvPr/>
        </p:nvPicPr>
        <p:blipFill>
          <a:blip r:embed="rId3"/>
          <a:stretch>
            <a:fillRect/>
          </a:stretch>
        </p:blipFill>
        <p:spPr>
          <a:xfrm>
            <a:off x="502920" y="1512099"/>
            <a:ext cx="3520440" cy="2096442"/>
          </a:xfrm>
          <a:prstGeom prst="rect">
            <a:avLst/>
          </a:prstGeom>
        </p:spPr>
      </p:pic>
      <p:sp>
        <p:nvSpPr>
          <p:cNvPr id="6" name="Text 3"/>
          <p:cNvSpPr/>
          <p:nvPr/>
        </p:nvSpPr>
        <p:spPr>
          <a:xfrm>
            <a:off x="502920" y="4023360"/>
            <a:ext cx="352044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Review score distribution</a:t>
            </a:r>
            <a:endParaRPr lang="en-US" sz="1100" dirty="0"/>
          </a:p>
        </p:txBody>
      </p:sp>
      <p:pic>
        <p:nvPicPr>
          <p:cNvPr id="7" name="Image 1" descr="assets/fig05_customers_sellers_state.png"/>
          <p:cNvPicPr>
            <a:picLocks noChangeAspect="1"/>
          </p:cNvPicPr>
          <p:nvPr/>
        </p:nvPicPr>
        <p:blipFill>
          <a:blip r:embed="rId4"/>
          <a:stretch>
            <a:fillRect/>
          </a:stretch>
        </p:blipFill>
        <p:spPr>
          <a:xfrm>
            <a:off x="4206240" y="1804294"/>
            <a:ext cx="3566160" cy="1512052"/>
          </a:xfrm>
          <a:prstGeom prst="rect">
            <a:avLst/>
          </a:prstGeom>
        </p:spPr>
      </p:pic>
      <p:sp>
        <p:nvSpPr>
          <p:cNvPr id="8" name="Text 4"/>
          <p:cNvSpPr/>
          <p:nvPr/>
        </p:nvSpPr>
        <p:spPr>
          <a:xfrm>
            <a:off x="4206240" y="4023360"/>
            <a:ext cx="356616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Customers vs sellers by state</a:t>
            </a:r>
            <a:endParaRPr lang="en-US" sz="1100" dirty="0"/>
          </a:p>
        </p:txBody>
      </p:sp>
      <p:pic>
        <p:nvPicPr>
          <p:cNvPr id="9" name="Image 2" descr="assets/fig06_payment_methods.png"/>
          <p:cNvPicPr>
            <a:picLocks noChangeAspect="1"/>
          </p:cNvPicPr>
          <p:nvPr/>
        </p:nvPicPr>
        <p:blipFill>
          <a:blip r:embed="rId5"/>
          <a:stretch>
            <a:fillRect/>
          </a:stretch>
        </p:blipFill>
        <p:spPr>
          <a:xfrm>
            <a:off x="7955280" y="1498486"/>
            <a:ext cx="3566160" cy="2123668"/>
          </a:xfrm>
          <a:prstGeom prst="rect">
            <a:avLst/>
          </a:prstGeom>
        </p:spPr>
      </p:pic>
      <p:sp>
        <p:nvSpPr>
          <p:cNvPr id="10" name="Text 5"/>
          <p:cNvSpPr/>
          <p:nvPr/>
        </p:nvSpPr>
        <p:spPr>
          <a:xfrm>
            <a:off x="7955280" y="4023360"/>
            <a:ext cx="356616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Payment method distribution</a:t>
            </a:r>
            <a:endParaRPr lang="en-US" sz="1100" dirty="0"/>
          </a:p>
        </p:txBody>
      </p:sp>
      <p:sp>
        <p:nvSpPr>
          <p:cNvPr id="11" name="Shape 6"/>
          <p:cNvSpPr/>
          <p:nvPr/>
        </p:nvSpPr>
        <p:spPr>
          <a:xfrm>
            <a:off x="502920" y="4434840"/>
            <a:ext cx="11018520" cy="1874520"/>
          </a:xfrm>
          <a:prstGeom prst="roundRect">
            <a:avLst>
              <a:gd name="adj" fmla="val 3902"/>
            </a:avLst>
          </a:prstGeom>
          <a:solidFill>
            <a:srgbClr val="1E2761"/>
          </a:solidFill>
          <a:ln/>
        </p:spPr>
      </p:sp>
      <p:sp>
        <p:nvSpPr>
          <p:cNvPr id="12" name="Text 7"/>
          <p:cNvSpPr/>
          <p:nvPr/>
        </p:nvSpPr>
        <p:spPr>
          <a:xfrm>
            <a:off x="777240" y="4572000"/>
            <a:ext cx="4572000" cy="32004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Key Findings</a:t>
            </a:r>
            <a:endParaRPr lang="en-US" sz="1500" dirty="0"/>
          </a:p>
        </p:txBody>
      </p:sp>
      <p:sp>
        <p:nvSpPr>
          <p:cNvPr id="13" name="Text 8"/>
          <p:cNvSpPr/>
          <p:nvPr/>
        </p:nvSpPr>
        <p:spPr>
          <a:xfrm>
            <a:off x="777240" y="4892040"/>
            <a:ext cx="10424160" cy="4114800"/>
          </a:xfrm>
          <a:prstGeom prst="rect">
            <a:avLst/>
          </a:prstGeom>
          <a:noFill/>
          <a:ln/>
        </p:spPr>
        <p:txBody>
          <a:bodyPr wrap="square" rtlCol="0" anchor="t"/>
          <a:lstStyle/>
          <a:p>
            <a:pPr marL="177800" indent="-177800">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73.4% of reviews are rated 4 or 5 stars — satisfaction is high on average, but the remaining ~16% at 1–2 stars is where the real business risk sits</a:t>
            </a:r>
            <a:endParaRPr lang="en-US" sz="1150" dirty="0"/>
          </a:p>
          <a:p>
            <a:pPr marL="177800" indent="-177800">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São Paulo (SP) alone accounts for 40,000+ customers, roughly 3× Rio de Janeiro (RJ), and hosts the large majority of sellers too — intra-state delivery dominates NovaMart's logistics network</a:t>
            </a:r>
            <a:endParaRPr lang="en-US" sz="1150" dirty="0"/>
          </a:p>
          <a:p>
            <a:pPr marL="177800" indent="-177800">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Credit card is used in 76% of transactions, followed by boleto (bank slip) at 20% — this distinction later helped separate customer segments in Module 03</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03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Customer Segmentation — Five Actionable Segments</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8</a:t>
            </a:r>
            <a:endParaRPr lang="en-US" sz="900" dirty="0"/>
          </a:p>
        </p:txBody>
      </p:sp>
      <p:pic>
        <p:nvPicPr>
          <p:cNvPr id="5" name="Image 0" descr="assets/fig11_pca_clusters.png"/>
          <p:cNvPicPr>
            <a:picLocks noChangeAspect="1"/>
          </p:cNvPicPr>
          <p:nvPr/>
        </p:nvPicPr>
        <p:blipFill>
          <a:blip r:embed="rId3"/>
          <a:stretch>
            <a:fillRect/>
          </a:stretch>
        </p:blipFill>
        <p:spPr>
          <a:xfrm>
            <a:off x="502920" y="1198603"/>
            <a:ext cx="5120640" cy="3134913"/>
          </a:xfrm>
          <a:prstGeom prst="rect">
            <a:avLst/>
          </a:prstGeom>
        </p:spPr>
      </p:pic>
      <p:sp>
        <p:nvSpPr>
          <p:cNvPr id="6" name="Text 3"/>
          <p:cNvSpPr/>
          <p:nvPr/>
        </p:nvSpPr>
        <p:spPr>
          <a:xfrm>
            <a:off x="502920" y="4434840"/>
            <a:ext cx="512064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PCA projection of K-Means segments (K=5)</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897880" y="1143000"/>
          <a:ext cx="5806440" cy="2331720"/>
        </p:xfrm>
        <a:graphic>
          <a:graphicData uri="http://schemas.openxmlformats.org/drawingml/2006/table">
            <a:tbl>
              <a:tblPr/>
              <a:tblGrid>
                <a:gridCol w="1691640"/>
                <a:gridCol w="1234440"/>
                <a:gridCol w="1463040"/>
                <a:gridCol w="1417320"/>
              </a:tblGrid>
              <a:tr h="3886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Segment</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Avg. Spend</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Avg. Review</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r>
              <a:tr h="388620">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Occasional</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63,632</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R$198.62</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4.28</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88620">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At Risk</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8,677</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R$262.16</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2.53</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88620">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Premium</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2,873</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R$614.48</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4.16</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88620">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Value / Boleto</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18,775</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R$183.54</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4.24</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88620">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New</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1,463</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R$169.97</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50" dirty="0">
                          <a:solidFill>
                            <a:srgbClr val="1B2033"/>
                          </a:solidFill>
                          <a:latin typeface="Calibri" pitchFamily="34" charset="0"/>
                          <a:ea typeface="Calibri" pitchFamily="34" charset="-122"/>
                          <a:cs typeface="Calibri" pitchFamily="34" charset="-120"/>
                        </a:rPr>
                        <a:t>4.18</a:t>
                      </a:r>
                      <a:endParaRPr lang="en-US" sz="115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bl>
          </a:graphicData>
        </a:graphic>
      </p:graphicFrame>
      <p:sp>
        <p:nvSpPr>
          <p:cNvPr id="8" name="Shape 4"/>
          <p:cNvSpPr/>
          <p:nvPr/>
        </p:nvSpPr>
        <p:spPr>
          <a:xfrm>
            <a:off x="5897880" y="3703320"/>
            <a:ext cx="5806440" cy="2606040"/>
          </a:xfrm>
          <a:prstGeom prst="roundRect">
            <a:avLst>
              <a:gd name="adj" fmla="val 2807"/>
            </a:avLst>
          </a:prstGeom>
          <a:solidFill>
            <a:srgbClr val="EEF3FE"/>
          </a:solidFill>
          <a:ln/>
        </p:spPr>
      </p:sp>
      <p:sp>
        <p:nvSpPr>
          <p:cNvPr id="7" name="Text 5"/>
          <p:cNvSpPr/>
          <p:nvPr/>
        </p:nvSpPr>
        <p:spPr>
          <a:xfrm>
            <a:off x="6126480" y="3822192"/>
            <a:ext cx="5394960" cy="3200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Key Findings</a:t>
            </a:r>
            <a:endParaRPr lang="en-US" sz="1500" dirty="0"/>
          </a:p>
        </p:txBody>
      </p:sp>
      <p:sp>
        <p:nvSpPr>
          <p:cNvPr id="10" name="Text 6"/>
          <p:cNvSpPr/>
          <p:nvPr/>
        </p:nvSpPr>
        <p:spPr>
          <a:xfrm>
            <a:off x="6126480" y="4160520"/>
            <a:ext cx="5394960" cy="4114800"/>
          </a:xfrm>
          <a:prstGeom prst="rect">
            <a:avLst/>
          </a:prstGeom>
          <a:noFill/>
          <a:ln/>
        </p:spPr>
        <p:txBody>
          <a:bodyPr wrap="square" rtlCol="0" anchor="t"/>
          <a:lstStyle/>
          <a:p>
            <a:pPr marL="177800" indent="-177800">
              <a:spcAft>
                <a:spcPts val="800"/>
              </a:spcAft>
              <a:buSzPct val="100000"/>
              <a:buChar char="•"/>
            </a:pPr>
            <a:r>
              <a:rPr lang="en-US" sz="1100" dirty="0">
                <a:solidFill>
                  <a:srgbClr val="1B2033"/>
                </a:solidFill>
                <a:latin typeface="Calibri" pitchFamily="34" charset="0"/>
                <a:ea typeface="Calibri" pitchFamily="34" charset="-122"/>
                <a:cs typeface="Calibri" pitchFamily="34" charset="-120"/>
              </a:rPr>
              <a:t>Only 3.05% of ~95,000 customers made more than one purchase — retention, not acquisition, is NovaMart's biggest lever</a:t>
            </a:r>
            <a:endParaRPr lang="en-US" sz="1100" dirty="0"/>
          </a:p>
          <a:p>
            <a:pPr marL="177800" indent="-177800">
              <a:spcAft>
                <a:spcPts val="800"/>
              </a:spcAft>
              <a:buSzPct val="100000"/>
              <a:buChar char="•"/>
            </a:pPr>
            <a:r>
              <a:rPr lang="en-US" sz="1100" dirty="0">
                <a:solidFill>
                  <a:srgbClr val="1B2033"/>
                </a:solidFill>
                <a:latin typeface="Calibri" pitchFamily="34" charset="0"/>
                <a:ea typeface="Calibri" pitchFamily="34" charset="-122"/>
                <a:cs typeface="Calibri" pitchFamily="34" charset="-120"/>
              </a:rPr>
              <a:t>Premium (2,873 customers) is the only segment with repeat purchasing and by far the highest spend</a:t>
            </a:r>
            <a:endParaRPr lang="en-US" sz="1100" dirty="0"/>
          </a:p>
          <a:p>
            <a:pPr marL="177800" indent="-177800">
              <a:spcAft>
                <a:spcPts val="800"/>
              </a:spcAft>
              <a:buSzPct val="100000"/>
              <a:buChar char="•"/>
            </a:pPr>
            <a:r>
              <a:rPr lang="en-US" sz="1100" dirty="0">
                <a:solidFill>
                  <a:srgbClr val="1B2033"/>
                </a:solidFill>
                <a:latin typeface="Calibri" pitchFamily="34" charset="0"/>
                <a:ea typeface="Calibri" pitchFamily="34" charset="-122"/>
                <a:cs typeface="Calibri" pitchFamily="34" charset="-120"/>
              </a:rPr>
              <a:t>At Risk pairs above-average spend with the worst delivery experience and lowest reviews of any segment — a clear retention target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04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Sales Forecasting — ARIMA on Daily Revenue</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9</a:t>
            </a:r>
            <a:endParaRPr lang="en-US" sz="900" dirty="0"/>
          </a:p>
        </p:txBody>
      </p:sp>
      <p:pic>
        <p:nvPicPr>
          <p:cNvPr id="5" name="Image 0" descr="assets/fig13_arima_forecast.png"/>
          <p:cNvPicPr>
            <a:picLocks noChangeAspect="1"/>
          </p:cNvPicPr>
          <p:nvPr/>
        </p:nvPicPr>
        <p:blipFill>
          <a:blip r:embed="rId3"/>
          <a:stretch>
            <a:fillRect/>
          </a:stretch>
        </p:blipFill>
        <p:spPr>
          <a:xfrm>
            <a:off x="666448" y="1143000"/>
            <a:ext cx="6165184" cy="2606040"/>
          </a:xfrm>
          <a:prstGeom prst="rect">
            <a:avLst/>
          </a:prstGeom>
        </p:spPr>
      </p:pic>
      <p:sp>
        <p:nvSpPr>
          <p:cNvPr id="6" name="Text 3"/>
          <p:cNvSpPr/>
          <p:nvPr/>
        </p:nvSpPr>
        <p:spPr>
          <a:xfrm>
            <a:off x="502920" y="3794760"/>
            <a:ext cx="649224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ARIMA(3,1,2) forecast vs. actual test-period revenue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269480" y="1143000"/>
          <a:ext cx="4434840" cy="1508760"/>
        </p:xfrm>
        <a:graphic>
          <a:graphicData uri="http://schemas.openxmlformats.org/drawingml/2006/table">
            <a:tbl>
              <a:tblPr/>
              <a:tblGrid>
                <a:gridCol w="1417320"/>
                <a:gridCol w="1051560"/>
                <a:gridCol w="1005840"/>
                <a:gridCol w="960120"/>
              </a:tblGrid>
              <a:tr h="37719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Order</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RMSE</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MAPE</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R²</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r>
              <a:tr h="377190">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(3,1,2) ★ best</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18,940.9</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246.4%</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-0.02</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77190">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(2,1,1)</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18,951.0</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246.9%</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-0.02</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77190">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18,954.6</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247.0%</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100" dirty="0">
                          <a:solidFill>
                            <a:srgbClr val="1B2033"/>
                          </a:solidFill>
                          <a:latin typeface="Calibri" pitchFamily="34" charset="0"/>
                          <a:ea typeface="Calibri" pitchFamily="34" charset="-122"/>
                          <a:cs typeface="Calibri" pitchFamily="34" charset="-120"/>
                        </a:rPr>
                        <a:t>-0.02</a:t>
                      </a:r>
                      <a:endParaRPr lang="en-US" sz="110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bl>
          </a:graphicData>
        </a:graphic>
      </p:graphicFrame>
      <p:sp>
        <p:nvSpPr>
          <p:cNvPr id="8" name="Shape 4"/>
          <p:cNvSpPr/>
          <p:nvPr/>
        </p:nvSpPr>
        <p:spPr>
          <a:xfrm>
            <a:off x="7269480" y="2834640"/>
            <a:ext cx="4434840" cy="3474720"/>
          </a:xfrm>
          <a:prstGeom prst="roundRect">
            <a:avLst>
              <a:gd name="adj" fmla="val 2105"/>
            </a:avLst>
          </a:prstGeom>
          <a:solidFill>
            <a:srgbClr val="1E2761"/>
          </a:solidFill>
          <a:ln/>
        </p:spPr>
      </p:sp>
      <p:sp>
        <p:nvSpPr>
          <p:cNvPr id="9" name="Text 5"/>
          <p:cNvSpPr/>
          <p:nvPr/>
        </p:nvSpPr>
        <p:spPr>
          <a:xfrm>
            <a:off x="7498080" y="2971800"/>
            <a:ext cx="3977640" cy="320040"/>
          </a:xfrm>
          <a:prstGeom prst="rect">
            <a:avLst/>
          </a:prstGeom>
          <a:noFill/>
          <a:ln/>
        </p:spPr>
        <p:txBody>
          <a:bodyPr wrap="square" rtlCol="0" anchor="ctr"/>
          <a:lstStyle/>
          <a:p>
            <a:pPr marL="0" indent="0">
              <a:buNone/>
            </a:pPr>
            <a:r>
              <a:rPr lang="en-US" sz="1450" b="1" dirty="0">
                <a:solidFill>
                  <a:srgbClr val="F2A63C"/>
                </a:solidFill>
                <a:latin typeface="Cambria" pitchFamily="34" charset="0"/>
                <a:ea typeface="Cambria" pitchFamily="34" charset="-122"/>
                <a:cs typeface="Cambria" pitchFamily="34" charset="-120"/>
              </a:rPr>
              <a:t>⚠ Honest Limitation</a:t>
            </a:r>
            <a:endParaRPr lang="en-US" sz="1450" dirty="0"/>
          </a:p>
        </p:txBody>
      </p:sp>
      <p:sp>
        <p:nvSpPr>
          <p:cNvPr id="7" name="Text 6"/>
          <p:cNvSpPr/>
          <p:nvPr/>
        </p:nvSpPr>
        <p:spPr>
          <a:xfrm>
            <a:off x="7498080" y="3337560"/>
            <a:ext cx="3977640" cy="4114800"/>
          </a:xfrm>
          <a:prstGeom prst="rect">
            <a:avLst/>
          </a:prstGeom>
          <a:noFill/>
          <a:ln/>
        </p:spPr>
        <p:txBody>
          <a:bodyPr wrap="square" rtlCol="0" anchor="t"/>
          <a:lstStyle/>
          <a:p>
            <a:pPr marL="177800" indent="-177800">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Best model's R² is negative — no better than predicting the mean</a:t>
            </a:r>
            <a:endParaRPr lang="en-US" sz="1100" dirty="0"/>
          </a:p>
          <a:p>
            <a:pPr marL="177800" indent="-177800">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MAPE of 246% reflects irregular promotional spikes ARIMA cannot capture</a:t>
            </a:r>
            <a:endParaRPr lang="en-US" sz="1100" dirty="0"/>
          </a:p>
          <a:p>
            <a:pPr marL="177800" indent="-177800">
              <a:spcAft>
                <a:spcPts val="800"/>
              </a:spcAft>
              <a:buSzPct val="100000"/>
              <a:buChar char="•"/>
            </a:pPr>
            <a:r>
              <a:rPr lang="en-US" sz="1100" dirty="0">
                <a:solidFill>
                  <a:srgbClr val="CADCFC"/>
                </a:solidFill>
                <a:latin typeface="Calibri" pitchFamily="34" charset="0"/>
                <a:ea typeface="Calibri" pitchFamily="34" charset="-122"/>
                <a:cs typeface="Calibri" pitchFamily="34" charset="-120"/>
              </a:rPr>
              <a:t>Recommended fix: exogenous regressors (promo calendar, holidays) or monthly/category-level aggregation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05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Delivery Delay Prediction — Random Forest</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10</a:t>
            </a:r>
            <a:endParaRPr lang="en-US" sz="900" dirty="0"/>
          </a:p>
        </p:txBody>
      </p:sp>
      <p:pic>
        <p:nvPicPr>
          <p:cNvPr id="5" name="Image 0" descr="assets/fig14_delivery_confusion.png"/>
          <p:cNvPicPr>
            <a:picLocks noChangeAspect="1"/>
          </p:cNvPicPr>
          <p:nvPr/>
        </p:nvPicPr>
        <p:blipFill>
          <a:blip r:embed="rId3"/>
          <a:stretch>
            <a:fillRect/>
          </a:stretch>
        </p:blipFill>
        <p:spPr>
          <a:xfrm>
            <a:off x="502920" y="1316475"/>
            <a:ext cx="3246120" cy="2899170"/>
          </a:xfrm>
          <a:prstGeom prst="rect">
            <a:avLst/>
          </a:prstGeom>
        </p:spPr>
      </p:pic>
      <p:sp>
        <p:nvSpPr>
          <p:cNvPr id="6" name="Text 3"/>
          <p:cNvSpPr/>
          <p:nvPr/>
        </p:nvSpPr>
        <p:spPr>
          <a:xfrm>
            <a:off x="502920" y="4434840"/>
            <a:ext cx="324612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Confusion matrix</a:t>
            </a:r>
            <a:endParaRPr lang="en-US" sz="1100" dirty="0"/>
          </a:p>
        </p:txBody>
      </p:sp>
      <p:pic>
        <p:nvPicPr>
          <p:cNvPr id="7" name="Image 1" descr="assets/fig15_delivery_roc.png"/>
          <p:cNvPicPr>
            <a:picLocks noChangeAspect="1"/>
          </p:cNvPicPr>
          <p:nvPr/>
        </p:nvPicPr>
        <p:blipFill>
          <a:blip r:embed="rId4"/>
          <a:stretch>
            <a:fillRect/>
          </a:stretch>
        </p:blipFill>
        <p:spPr>
          <a:xfrm>
            <a:off x="3977640" y="1293849"/>
            <a:ext cx="3429000" cy="2944423"/>
          </a:xfrm>
          <a:prstGeom prst="rect">
            <a:avLst/>
          </a:prstGeom>
        </p:spPr>
      </p:pic>
      <p:sp>
        <p:nvSpPr>
          <p:cNvPr id="8" name="Text 4"/>
          <p:cNvSpPr/>
          <p:nvPr/>
        </p:nvSpPr>
        <p:spPr>
          <a:xfrm>
            <a:off x="3977640" y="4434840"/>
            <a:ext cx="342900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ROC curve (AUC = 0.775)</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635240" y="1143000"/>
          <a:ext cx="4069080" cy="1417320"/>
        </p:xfrm>
        <a:graphic>
          <a:graphicData uri="http://schemas.openxmlformats.org/drawingml/2006/table">
            <a:tbl>
              <a:tblPr/>
              <a:tblGrid>
                <a:gridCol w="1417320"/>
                <a:gridCol w="914400"/>
                <a:gridCol w="868680"/>
                <a:gridCol w="868680"/>
              </a:tblGrid>
              <a:tr h="354330">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Model</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Accuracy</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Precision</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Recall</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r>
              <a:tr h="354330">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Random Forest ★</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0.944</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0.831</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0.168</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54330">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Decision Tree</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0.937</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0.607</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0.074</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54330">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Logistic Reg.</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0.935</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0.625</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0.021</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bl>
          </a:graphicData>
        </a:graphic>
      </p:graphicFrame>
      <p:sp>
        <p:nvSpPr>
          <p:cNvPr id="10" name="Shape 5"/>
          <p:cNvSpPr/>
          <p:nvPr/>
        </p:nvSpPr>
        <p:spPr>
          <a:xfrm>
            <a:off x="7635240" y="2743200"/>
            <a:ext cx="4069080" cy="3566160"/>
          </a:xfrm>
          <a:prstGeom prst="roundRect">
            <a:avLst>
              <a:gd name="adj" fmla="val 2051"/>
            </a:avLst>
          </a:prstGeom>
          <a:solidFill>
            <a:srgbClr val="EEF3FE"/>
          </a:solidFill>
          <a:ln/>
        </p:spPr>
      </p:sp>
      <p:sp>
        <p:nvSpPr>
          <p:cNvPr id="9" name="Text 6"/>
          <p:cNvSpPr/>
          <p:nvPr/>
        </p:nvSpPr>
        <p:spPr>
          <a:xfrm>
            <a:off x="7863840" y="2880360"/>
            <a:ext cx="3657600" cy="32004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Key Findings</a:t>
            </a:r>
            <a:endParaRPr lang="en-US" sz="1450" dirty="0"/>
          </a:p>
        </p:txBody>
      </p:sp>
      <p:sp>
        <p:nvSpPr>
          <p:cNvPr id="12" name="Text 7"/>
          <p:cNvSpPr/>
          <p:nvPr/>
        </p:nvSpPr>
        <p:spPr>
          <a:xfrm>
            <a:off x="7863840" y="3246120"/>
            <a:ext cx="3657600" cy="4114800"/>
          </a:xfrm>
          <a:prstGeom prst="rect">
            <a:avLst/>
          </a:prstGeom>
          <a:noFill/>
          <a:ln/>
        </p:spPr>
        <p:txBody>
          <a:bodyPr wrap="square" rtlCol="0" anchor="t"/>
          <a:lstStyle/>
          <a:p>
            <a:pPr marL="177800" indent="-177800">
              <a:spcAft>
                <a:spcPts val="800"/>
              </a:spcAft>
              <a:buSzPct val="100000"/>
              <a:buChar char="•"/>
            </a:pPr>
            <a:r>
              <a:rPr lang="en-US" sz="1080" dirty="0">
                <a:solidFill>
                  <a:srgbClr val="1B2033"/>
                </a:solidFill>
                <a:latin typeface="Calibri" pitchFamily="34" charset="0"/>
                <a:ea typeface="Calibri" pitchFamily="34" charset="-122"/>
                <a:cs typeface="Calibri" pitchFamily="34" charset="-120"/>
              </a:rPr>
              <a:t>High precision (0.83): when flagged late, it's right ~4 in 5 times</a:t>
            </a:r>
            <a:endParaRPr lang="en-US" sz="1080" dirty="0"/>
          </a:p>
          <a:p>
            <a:pPr marL="177800" indent="-177800">
              <a:spcAft>
                <a:spcPts val="800"/>
              </a:spcAft>
              <a:buSzPct val="100000"/>
              <a:buChar char="•"/>
            </a:pPr>
            <a:r>
              <a:rPr lang="en-US" sz="1080" dirty="0">
                <a:solidFill>
                  <a:srgbClr val="1B2033"/>
                </a:solidFill>
                <a:latin typeface="Calibri" pitchFamily="34" charset="0"/>
                <a:ea typeface="Calibri" pitchFamily="34" charset="-122"/>
                <a:cs typeface="Calibri" pitchFamily="34" charset="-120"/>
              </a:rPr>
              <a:t>Low recall (0.17): most late deliveries still go undetected — a hard minority-class problem at only 6.5% prevalence</a:t>
            </a:r>
            <a:endParaRPr lang="en-US" sz="1080" dirty="0"/>
          </a:p>
          <a:p>
            <a:pPr marL="177800" indent="-177800">
              <a:spcAft>
                <a:spcPts val="800"/>
              </a:spcAft>
              <a:buSzPct val="100000"/>
              <a:buChar char="•"/>
            </a:pPr>
            <a:r>
              <a:rPr lang="en-US" sz="1080" dirty="0">
                <a:solidFill>
                  <a:srgbClr val="1B2033"/>
                </a:solidFill>
                <a:latin typeface="Calibri" pitchFamily="34" charset="0"/>
                <a:ea typeface="Calibri" pitchFamily="34" charset="-122"/>
                <a:cs typeface="Calibri" pitchFamily="34" charset="-120"/>
              </a:rPr>
              <a:t>SMOTE oversampling did not improve results — the signal simply isn't in the order-level features</a:t>
            </a:r>
            <a:endParaRPr lang="en-US" sz="1080" dirty="0"/>
          </a:p>
          <a:p>
            <a:pPr marL="177800" indent="-177800">
              <a:spcAft>
                <a:spcPts val="800"/>
              </a:spcAft>
              <a:buSzPct val="100000"/>
              <a:buChar char="•"/>
            </a:pPr>
            <a:r>
              <a:rPr lang="en-US" sz="1080" dirty="0">
                <a:solidFill>
                  <a:srgbClr val="1B2033"/>
                </a:solidFill>
                <a:latin typeface="Calibri" pitchFamily="34" charset="0"/>
                <a:ea typeface="Calibri" pitchFamily="34" charset="-122"/>
                <a:cs typeface="Calibri" pitchFamily="34" charset="-120"/>
              </a:rPr>
              <a:t>Recommended as a decision-support flag, not a full detector</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06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Customer Satisfaction Prediction — Random Forest</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11</a:t>
            </a:r>
            <a:endParaRPr lang="en-US" sz="900" dirty="0"/>
          </a:p>
        </p:txBody>
      </p:sp>
      <p:pic>
        <p:nvPicPr>
          <p:cNvPr id="5" name="Image 0" descr="assets/fig16_satisfaction_confusion.png"/>
          <p:cNvPicPr>
            <a:picLocks noChangeAspect="1"/>
          </p:cNvPicPr>
          <p:nvPr/>
        </p:nvPicPr>
        <p:blipFill>
          <a:blip r:embed="rId3"/>
          <a:stretch>
            <a:fillRect/>
          </a:stretch>
        </p:blipFill>
        <p:spPr>
          <a:xfrm>
            <a:off x="502920" y="1316475"/>
            <a:ext cx="3246120" cy="2899170"/>
          </a:xfrm>
          <a:prstGeom prst="rect">
            <a:avLst/>
          </a:prstGeom>
        </p:spPr>
      </p:pic>
      <p:sp>
        <p:nvSpPr>
          <p:cNvPr id="6" name="Text 3"/>
          <p:cNvSpPr/>
          <p:nvPr/>
        </p:nvSpPr>
        <p:spPr>
          <a:xfrm>
            <a:off x="502920" y="4434840"/>
            <a:ext cx="324612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Confusion matrix</a:t>
            </a:r>
            <a:endParaRPr lang="en-US" sz="1100" dirty="0"/>
          </a:p>
        </p:txBody>
      </p:sp>
      <p:pic>
        <p:nvPicPr>
          <p:cNvPr id="7" name="Image 1" descr="assets/fig17_satisfaction_roc.png"/>
          <p:cNvPicPr>
            <a:picLocks noChangeAspect="1"/>
          </p:cNvPicPr>
          <p:nvPr/>
        </p:nvPicPr>
        <p:blipFill>
          <a:blip r:embed="rId4"/>
          <a:stretch>
            <a:fillRect/>
          </a:stretch>
        </p:blipFill>
        <p:spPr>
          <a:xfrm>
            <a:off x="3977640" y="1293849"/>
            <a:ext cx="3429000" cy="2944423"/>
          </a:xfrm>
          <a:prstGeom prst="rect">
            <a:avLst/>
          </a:prstGeom>
        </p:spPr>
      </p:pic>
      <p:sp>
        <p:nvSpPr>
          <p:cNvPr id="8" name="Text 4"/>
          <p:cNvSpPr/>
          <p:nvPr/>
        </p:nvSpPr>
        <p:spPr>
          <a:xfrm>
            <a:off x="3977640" y="4434840"/>
            <a:ext cx="342900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ROC curve (AUC = 0.792)</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635240" y="1143000"/>
          <a:ext cx="4069080" cy="1417320"/>
        </p:xfrm>
        <a:graphic>
          <a:graphicData uri="http://schemas.openxmlformats.org/drawingml/2006/table">
            <a:tbl>
              <a:tblPr/>
              <a:tblGrid>
                <a:gridCol w="1417320"/>
                <a:gridCol w="914400"/>
                <a:gridCol w="868680"/>
                <a:gridCol w="868680"/>
              </a:tblGrid>
              <a:tr h="354330">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Model</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Accuracy</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Recall</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c>
                  <a:txBody>
                    <a:bodyPr/>
                    <a:lstStyle/>
                    <a:p>
                      <a:pPr marL="0" indent="0">
                        <a:buNone/>
                      </a:pPr>
                      <a:r>
                        <a:rPr lang="en-US" sz="1080" b="1" dirty="0">
                          <a:solidFill>
                            <a:srgbClr val="FFFFFF"/>
                          </a:solidFill>
                          <a:latin typeface="Calibri" pitchFamily="34" charset="0"/>
                          <a:ea typeface="Calibri" pitchFamily="34" charset="-122"/>
                          <a:cs typeface="Calibri" pitchFamily="34" charset="-120"/>
                        </a:rPr>
                        <a:t>F1</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solidFill>
                      <a:srgbClr val="1E2761"/>
                    </a:solidFill>
                  </a:tcPr>
                </a:tc>
              </a:tr>
              <a:tr h="354330">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Random Forest ★</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0.846</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0.981</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0.907</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54330">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Decision Tree</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0.800</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0.972</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0.881</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r h="354330">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Logistic Reg.</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0.790</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0.977</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c>
                  <a:txBody>
                    <a:bodyPr/>
                    <a:lstStyle/>
                    <a:p>
                      <a:pPr marL="0" indent="0">
                        <a:buNone/>
                      </a:pPr>
                      <a:r>
                        <a:rPr lang="en-US" sz="1080" dirty="0">
                          <a:solidFill>
                            <a:srgbClr val="1B2033"/>
                          </a:solidFill>
                          <a:latin typeface="Calibri" pitchFamily="34" charset="0"/>
                          <a:ea typeface="Calibri" pitchFamily="34" charset="-122"/>
                          <a:cs typeface="Calibri" pitchFamily="34" charset="-120"/>
                        </a:rPr>
                        <a:t>0.877</a:t>
                      </a:r>
                      <a:endParaRPr lang="en-US" sz="1080" dirty="0">
                        <a:latin typeface="Calibri" charset="0"/>
                        <a:ea typeface="Calibri" charset="0"/>
                        <a:cs typeface="Calibri" charset="0"/>
                      </a:endParaRPr>
                    </a:p>
                  </a:txBody>
                  <a:tcPr>
                    <a:lnL w="9525" cap="flat" cmpd="sng" algn="ctr">
                      <a:solidFill>
                        <a:srgbClr val="E3E9F6"/>
                      </a:solidFill>
                      <a:prstDash val="solid"/>
                      <a:round/>
                      <a:headEnd type="none" w="med" len="med"/>
                      <a:tailEnd type="none" w="med" len="med"/>
                    </a:lnL>
                    <a:lnR w="9525" cap="flat" cmpd="sng" algn="ctr">
                      <a:solidFill>
                        <a:srgbClr val="E3E9F6"/>
                      </a:solidFill>
                      <a:prstDash val="solid"/>
                      <a:round/>
                      <a:headEnd type="none" w="med" len="med"/>
                      <a:tailEnd type="none" w="med" len="med"/>
                    </a:lnR>
                    <a:lnT w="9525" cap="flat" cmpd="sng" algn="ctr">
                      <a:solidFill>
                        <a:srgbClr val="E3E9F6"/>
                      </a:solidFill>
                      <a:prstDash val="solid"/>
                      <a:round/>
                      <a:headEnd type="none" w="med" len="med"/>
                      <a:tailEnd type="none" w="med" len="med"/>
                    </a:lnT>
                    <a:lnB w="9525" cap="flat" cmpd="sng" algn="ctr">
                      <a:solidFill>
                        <a:srgbClr val="E3E9F6"/>
                      </a:solidFill>
                      <a:prstDash val="solid"/>
                      <a:round/>
                      <a:headEnd type="none" w="med" len="med"/>
                      <a:tailEnd type="none" w="med" len="med"/>
                    </a:lnB>
                  </a:tcPr>
                </a:tc>
              </a:tr>
            </a:tbl>
          </a:graphicData>
        </a:graphic>
      </p:graphicFrame>
      <p:sp>
        <p:nvSpPr>
          <p:cNvPr id="10" name="Shape 5"/>
          <p:cNvSpPr/>
          <p:nvPr/>
        </p:nvSpPr>
        <p:spPr>
          <a:xfrm>
            <a:off x="7635240" y="2743200"/>
            <a:ext cx="4069080" cy="3566160"/>
          </a:xfrm>
          <a:prstGeom prst="roundRect">
            <a:avLst>
              <a:gd name="adj" fmla="val 2051"/>
            </a:avLst>
          </a:prstGeom>
          <a:solidFill>
            <a:srgbClr val="1E2761"/>
          </a:solidFill>
          <a:ln/>
        </p:spPr>
      </p:sp>
      <p:sp>
        <p:nvSpPr>
          <p:cNvPr id="11" name="Text 6"/>
          <p:cNvSpPr/>
          <p:nvPr/>
        </p:nvSpPr>
        <p:spPr>
          <a:xfrm>
            <a:off x="7863840" y="2880360"/>
            <a:ext cx="3657600" cy="320040"/>
          </a:xfrm>
          <a:prstGeom prst="rect">
            <a:avLst/>
          </a:prstGeom>
          <a:noFill/>
          <a:ln/>
        </p:spPr>
        <p:txBody>
          <a:bodyPr wrap="square" rtlCol="0" anchor="ctr"/>
          <a:lstStyle/>
          <a:p>
            <a:pPr marL="0" indent="0">
              <a:buNone/>
            </a:pPr>
            <a:r>
              <a:rPr lang="en-US" sz="1450" b="1" dirty="0">
                <a:solidFill>
                  <a:srgbClr val="F2A63C"/>
                </a:solidFill>
                <a:latin typeface="Cambria" pitchFamily="34" charset="0"/>
                <a:ea typeface="Cambria" pitchFamily="34" charset="-122"/>
                <a:cs typeface="Cambria" pitchFamily="34" charset="-120"/>
              </a:rPr>
              <a:t>Key Findings</a:t>
            </a:r>
            <a:endParaRPr lang="en-US" sz="1450" dirty="0"/>
          </a:p>
        </p:txBody>
      </p:sp>
      <p:sp>
        <p:nvSpPr>
          <p:cNvPr id="9" name="Text 7"/>
          <p:cNvSpPr/>
          <p:nvPr/>
        </p:nvSpPr>
        <p:spPr>
          <a:xfrm>
            <a:off x="7863840" y="3246120"/>
            <a:ext cx="3657600" cy="4114800"/>
          </a:xfrm>
          <a:prstGeom prst="rect">
            <a:avLst/>
          </a:prstGeom>
          <a:noFill/>
          <a:ln/>
        </p:spPr>
        <p:txBody>
          <a:bodyPr wrap="square" rtlCol="0" anchor="t"/>
          <a:lstStyle/>
          <a:p>
            <a:pPr marL="177800" indent="-177800">
              <a:spcAft>
                <a:spcPts val="800"/>
              </a:spcAft>
              <a:buSzPct val="100000"/>
              <a:buChar char="•"/>
            </a:pPr>
            <a:r>
              <a:rPr lang="en-US" sz="1080" dirty="0">
                <a:solidFill>
                  <a:srgbClr val="CADCFC"/>
                </a:solidFill>
                <a:latin typeface="Calibri" pitchFamily="34" charset="0"/>
                <a:ea typeface="Calibri" pitchFamily="34" charset="-122"/>
                <a:cs typeface="Calibri" pitchFamily="34" charset="-120"/>
              </a:rPr>
              <a:t>98.1% recall — the model catches almost every satisfied customer, isolating the at-risk minority reliably</a:t>
            </a:r>
            <a:endParaRPr lang="en-US" sz="1080" dirty="0"/>
          </a:p>
          <a:p>
            <a:pPr marL="177800" indent="-177800">
              <a:spcAft>
                <a:spcPts val="800"/>
              </a:spcAft>
              <a:buSzPct val="100000"/>
              <a:buChar char="•"/>
            </a:pPr>
            <a:r>
              <a:rPr lang="en-US" sz="1080" dirty="0">
                <a:solidFill>
                  <a:srgbClr val="CADCFC"/>
                </a:solidFill>
                <a:latin typeface="Calibri" pitchFamily="34" charset="0"/>
                <a:ea typeface="Calibri" pitchFamily="34" charset="-122"/>
                <a:cs typeface="Calibri" pitchFamily="34" charset="-120"/>
              </a:rPr>
              <a:t>Delivery-related features dominate: delay and total delivery time are the strongest predictors</a:t>
            </a:r>
            <a:endParaRPr lang="en-US" sz="1080" dirty="0"/>
          </a:p>
          <a:p>
            <a:pPr marL="177800" indent="-177800">
              <a:spcAft>
                <a:spcPts val="800"/>
              </a:spcAft>
              <a:buSzPct val="100000"/>
              <a:buChar char="•"/>
            </a:pPr>
            <a:r>
              <a:rPr lang="en-US" sz="1080" dirty="0">
                <a:solidFill>
                  <a:srgbClr val="CADCFC"/>
                </a:solidFill>
                <a:latin typeface="Calibri" pitchFamily="34" charset="0"/>
                <a:ea typeface="Calibri" pitchFamily="34" charset="-122"/>
                <a:cs typeface="Calibri" pitchFamily="34" charset="-120"/>
              </a:rPr>
              <a:t>Ready for deployment as a proactive early-warning flag before a negative review is even submitted</a:t>
            </a:r>
            <a:endParaRPr lang="en-US"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07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Product Recommendation Engine</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12</a:t>
            </a:r>
            <a:endParaRPr lang="en-US" sz="900" dirty="0"/>
          </a:p>
        </p:txBody>
      </p:sp>
      <p:pic>
        <p:nvPicPr>
          <p:cNvPr id="5" name="Image 0" descr="assets/fig18_top_products.png"/>
          <p:cNvPicPr>
            <a:picLocks noChangeAspect="1"/>
          </p:cNvPicPr>
          <p:nvPr/>
        </p:nvPicPr>
        <p:blipFill>
          <a:blip r:embed="rId3"/>
          <a:stretch>
            <a:fillRect/>
          </a:stretch>
        </p:blipFill>
        <p:spPr>
          <a:xfrm>
            <a:off x="502920" y="1227890"/>
            <a:ext cx="5943600" cy="3122060"/>
          </a:xfrm>
          <a:prstGeom prst="rect">
            <a:avLst/>
          </a:prstGeom>
        </p:spPr>
      </p:pic>
      <p:sp>
        <p:nvSpPr>
          <p:cNvPr id="6" name="Text 3"/>
          <p:cNvSpPr/>
          <p:nvPr/>
        </p:nvSpPr>
        <p:spPr>
          <a:xfrm>
            <a:off x="502920" y="4526280"/>
            <a:ext cx="594360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Top-selling product categories by order volume</a:t>
            </a:r>
            <a:endParaRPr lang="en-US" sz="1100" dirty="0"/>
          </a:p>
        </p:txBody>
      </p:sp>
      <p:sp>
        <p:nvSpPr>
          <p:cNvPr id="7" name="Shape 4"/>
          <p:cNvSpPr/>
          <p:nvPr/>
        </p:nvSpPr>
        <p:spPr>
          <a:xfrm>
            <a:off x="6720840" y="1143000"/>
            <a:ext cx="4965192" cy="5257800"/>
          </a:xfrm>
          <a:prstGeom prst="roundRect">
            <a:avLst>
              <a:gd name="adj" fmla="val 1473"/>
            </a:avLst>
          </a:prstGeom>
          <a:solidFill>
            <a:srgbClr val="EEF3FE"/>
          </a:solidFill>
          <a:ln/>
        </p:spPr>
      </p:sp>
      <p:sp>
        <p:nvSpPr>
          <p:cNvPr id="8" name="Text 5"/>
          <p:cNvSpPr/>
          <p:nvPr/>
        </p:nvSpPr>
        <p:spPr>
          <a:xfrm>
            <a:off x="6949440" y="1280160"/>
            <a:ext cx="4480560" cy="32004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What Actually Worked</a:t>
            </a:r>
            <a:endParaRPr lang="en-US" sz="1500" dirty="0"/>
          </a:p>
        </p:txBody>
      </p:sp>
      <p:sp>
        <p:nvSpPr>
          <p:cNvPr id="9" name="Text 6"/>
          <p:cNvSpPr/>
          <p:nvPr/>
        </p:nvSpPr>
        <p:spPr>
          <a:xfrm>
            <a:off x="6949440" y="1645920"/>
            <a:ext cx="4480560" cy="4114800"/>
          </a:xfrm>
          <a:prstGeom prst="rect">
            <a:avLst/>
          </a:prstGeom>
          <a:noFill/>
          <a:ln/>
        </p:spPr>
        <p:txBody>
          <a:bodyPr wrap="square" rtlCol="0" anchor="t"/>
          <a:lstStyle/>
          <a:p>
            <a:pPr marL="177800" indent="-177800">
              <a:spcAft>
                <a:spcPts val="1000"/>
              </a:spcAft>
              <a:buSzPct val="100000"/>
              <a:buChar char="•"/>
            </a:pPr>
            <a:r>
              <a:rPr lang="en-US" sz="1150" dirty="0">
                <a:solidFill>
                  <a:srgbClr val="1B2033"/>
                </a:solidFill>
                <a:latin typeface="Calibri" pitchFamily="34" charset="0"/>
                <a:ea typeface="Calibri" pitchFamily="34" charset="-122"/>
                <a:cs typeface="Calibri" pitchFamily="34" charset="-120"/>
              </a:rPr>
              <a:t>Apriori market-basket analysis (0.5% min. support) found NO significant cross-category association rules</a:t>
            </a:r>
            <a:endParaRPr lang="en-US" sz="1150" dirty="0"/>
          </a:p>
          <a:p>
            <a:pPr marL="177800" indent="-177800">
              <a:spcAft>
                <a:spcPts val="1000"/>
              </a:spcAft>
              <a:buSzPct val="100000"/>
              <a:buChar char="•"/>
            </a:pPr>
            <a:r>
              <a:rPr lang="en-US" sz="1150" dirty="0">
                <a:solidFill>
                  <a:srgbClr val="1B2033"/>
                </a:solidFill>
                <a:latin typeface="Calibri" pitchFamily="34" charset="0"/>
                <a:ea typeface="Calibri" pitchFamily="34" charset="-122"/>
                <a:cs typeface="Calibri" pitchFamily="34" charset="-120"/>
              </a:rPr>
              <a:t>NovaMart orders are highly concentrated within single categories, not predictable multi-category baskets</a:t>
            </a:r>
            <a:endParaRPr lang="en-US" sz="1150" dirty="0"/>
          </a:p>
          <a:p>
            <a:pPr marL="177800" indent="-177800">
              <a:spcAft>
                <a:spcPts val="1000"/>
              </a:spcAft>
              <a:buSzPct val="100000"/>
              <a:buChar char="•"/>
            </a:pPr>
            <a:r>
              <a:rPr lang="en-US" sz="1150" dirty="0">
                <a:solidFill>
                  <a:srgbClr val="1B2033"/>
                </a:solidFill>
                <a:latin typeface="Calibri" pitchFamily="34" charset="0"/>
                <a:ea typeface="Calibri" pitchFamily="34" charset="-122"/>
                <a:cs typeface="Calibri" pitchFamily="34" charset="-120"/>
              </a:rPr>
              <a:t>Deployed engine instead blends: popularity, customer-cluster preference, and best-rated products (min. review threshold applied)</a:t>
            </a:r>
            <a:endParaRPr lang="en-US" sz="1150" dirty="0"/>
          </a:p>
        </p:txBody>
      </p:sp>
      <p:sp>
        <p:nvSpPr>
          <p:cNvPr id="10" name="Shape 7"/>
          <p:cNvSpPr/>
          <p:nvPr/>
        </p:nvSpPr>
        <p:spPr>
          <a:xfrm>
            <a:off x="6949440" y="3794760"/>
            <a:ext cx="4480560" cy="0"/>
          </a:xfrm>
          <a:prstGeom prst="line">
            <a:avLst/>
          </a:prstGeom>
          <a:noFill/>
          <a:ln w="12700">
            <a:solidFill>
              <a:srgbClr val="D8DEEC"/>
            </a:solidFill>
            <a:prstDash val="solid"/>
          </a:ln>
        </p:spPr>
      </p:sp>
      <p:sp>
        <p:nvSpPr>
          <p:cNvPr id="11" name="Text 8"/>
          <p:cNvSpPr/>
          <p:nvPr/>
        </p:nvSpPr>
        <p:spPr>
          <a:xfrm>
            <a:off x="6949440" y="3931920"/>
            <a:ext cx="448056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 finding, not a failure:</a:t>
            </a:r>
            <a:endParaRPr lang="en-US" sz="1200" dirty="0"/>
          </a:p>
        </p:txBody>
      </p:sp>
      <p:sp>
        <p:nvSpPr>
          <p:cNvPr id="12" name="Text 9"/>
          <p:cNvSpPr/>
          <p:nvPr/>
        </p:nvSpPr>
        <p:spPr>
          <a:xfrm>
            <a:off x="6949440" y="4224528"/>
            <a:ext cx="4480560" cy="1097280"/>
          </a:xfrm>
          <a:prstGeom prst="rect">
            <a:avLst/>
          </a:prstGeom>
          <a:noFill/>
          <a:ln/>
        </p:spPr>
        <p:txBody>
          <a:bodyPr wrap="square" rtlCol="0" anchor="ctr"/>
          <a:lstStyle/>
          <a:p>
            <a:pPr marL="0" indent="0">
              <a:buNone/>
            </a:pPr>
            <a:r>
              <a:rPr lang="en-US" sz="1150" i="1" dirty="0">
                <a:solidFill>
                  <a:srgbClr val="5B6479"/>
                </a:solidFill>
                <a:latin typeface="Calibri" pitchFamily="34" charset="0"/>
                <a:ea typeface="Calibri" pitchFamily="34" charset="-122"/>
                <a:cs typeface="Calibri" pitchFamily="34" charset="-120"/>
              </a:rPr>
              <a:t>with only a 3% repeat-purchase rate, there isn't yet enough basket density for classic association rules to fire — the hybrid approach is the right engineering response to what the data actually shows.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MODULE 08 · RESULTS</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Model Explainability — What Drives Each Prediction</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13</a:t>
            </a:r>
            <a:endParaRPr lang="en-US" sz="900" dirty="0"/>
          </a:p>
        </p:txBody>
      </p:sp>
      <p:pic>
        <p:nvPicPr>
          <p:cNvPr id="5" name="Image 0" descr="assets/fig19_delivery_feature_importance.png"/>
          <p:cNvPicPr>
            <a:picLocks noChangeAspect="1"/>
          </p:cNvPicPr>
          <p:nvPr/>
        </p:nvPicPr>
        <p:blipFill>
          <a:blip r:embed="rId3"/>
          <a:stretch>
            <a:fillRect/>
          </a:stretch>
        </p:blipFill>
        <p:spPr>
          <a:xfrm>
            <a:off x="438173" y="1097280"/>
            <a:ext cx="5478733" cy="3794760"/>
          </a:xfrm>
          <a:prstGeom prst="rect">
            <a:avLst/>
          </a:prstGeom>
        </p:spPr>
      </p:pic>
      <p:sp>
        <p:nvSpPr>
          <p:cNvPr id="6" name="Text 3"/>
          <p:cNvSpPr/>
          <p:nvPr/>
        </p:nvSpPr>
        <p:spPr>
          <a:xfrm>
            <a:off x="365760" y="4937760"/>
            <a:ext cx="562356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Top features — delivery delay</a:t>
            </a:r>
            <a:endParaRPr lang="en-US" sz="1100" dirty="0"/>
          </a:p>
        </p:txBody>
      </p:sp>
      <p:pic>
        <p:nvPicPr>
          <p:cNvPr id="7" name="Image 1" descr="assets/fig20_satisfaction_feature_importance.png"/>
          <p:cNvPicPr>
            <a:picLocks noChangeAspect="1"/>
          </p:cNvPicPr>
          <p:nvPr/>
        </p:nvPicPr>
        <p:blipFill>
          <a:blip r:embed="rId4"/>
          <a:stretch>
            <a:fillRect/>
          </a:stretch>
        </p:blipFill>
        <p:spPr>
          <a:xfrm>
            <a:off x="6248493" y="1097280"/>
            <a:ext cx="5470973" cy="3794760"/>
          </a:xfrm>
          <a:prstGeom prst="rect">
            <a:avLst/>
          </a:prstGeom>
        </p:spPr>
      </p:pic>
      <p:sp>
        <p:nvSpPr>
          <p:cNvPr id="8" name="Text 4"/>
          <p:cNvSpPr/>
          <p:nvPr/>
        </p:nvSpPr>
        <p:spPr>
          <a:xfrm>
            <a:off x="6172200" y="4937760"/>
            <a:ext cx="562356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Top features — customer satisfaction</a:t>
            </a:r>
            <a:endParaRPr lang="en-US" sz="1100" dirty="0"/>
          </a:p>
        </p:txBody>
      </p:sp>
      <p:sp>
        <p:nvSpPr>
          <p:cNvPr id="9" name="Shape 5"/>
          <p:cNvSpPr/>
          <p:nvPr/>
        </p:nvSpPr>
        <p:spPr>
          <a:xfrm>
            <a:off x="502920" y="5349240"/>
            <a:ext cx="11201400" cy="1051560"/>
          </a:xfrm>
          <a:prstGeom prst="roundRect">
            <a:avLst>
              <a:gd name="adj" fmla="val 6957"/>
            </a:avLst>
          </a:prstGeom>
          <a:solidFill>
            <a:srgbClr val="1E2761"/>
          </a:solidFill>
          <a:ln/>
        </p:spPr>
      </p:sp>
      <p:sp>
        <p:nvSpPr>
          <p:cNvPr id="10" name="Text 6"/>
          <p:cNvSpPr/>
          <p:nvPr/>
        </p:nvSpPr>
        <p:spPr>
          <a:xfrm>
            <a:off x="777240" y="5440680"/>
            <a:ext cx="10652760" cy="868680"/>
          </a:xfrm>
          <a:prstGeom prst="rect">
            <a:avLst/>
          </a:prstGeom>
          <a:noFill/>
          <a:ln/>
        </p:spPr>
        <p:txBody>
          <a:bodyPr wrap="square" rtlCol="0" anchor="ctr"/>
          <a:lstStyle/>
          <a:p>
            <a:pPr marL="0" indent="0">
              <a:buNone/>
            </a:pPr>
            <a:r>
              <a:rPr lang="en-US" sz="1250" i="1" dirty="0">
                <a:solidFill>
                  <a:srgbClr val="CADCFC"/>
                </a:solidFill>
                <a:latin typeface="Calibri" pitchFamily="34" charset="0"/>
                <a:ea typeface="Calibri" pitchFamily="34" charset="-122"/>
                <a:cs typeface="Calibri" pitchFamily="34" charset="-120"/>
              </a:rPr>
              <a:t>Bottom line: shipping duration and transaction value drive delivery risk; delivery delay itself is the #1 driver of dissatisfaction — logistics is NovaMart's highest-leverage improvement area.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NovaMart Dashboard — Live &amp; Deployed</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502920" y="1078992"/>
            <a:ext cx="2286000" cy="310896"/>
          </a:xfrm>
          <a:prstGeom prst="roundRect">
            <a:avLst>
              <a:gd name="adj" fmla="val 50000"/>
            </a:avLst>
          </a:prstGeom>
          <a:solidFill>
            <a:srgbClr val="F2A63C"/>
          </a:solidFill>
          <a:ln/>
        </p:spPr>
      </p:sp>
      <p:sp>
        <p:nvSpPr>
          <p:cNvPr id="6" name="Text 4"/>
          <p:cNvSpPr/>
          <p:nvPr/>
        </p:nvSpPr>
        <p:spPr>
          <a:xfrm>
            <a:off x="502920" y="1078992"/>
            <a:ext cx="2286000" cy="310896"/>
          </a:xfrm>
          <a:prstGeom prst="rect">
            <a:avLst/>
          </a:prstGeom>
          <a:noFill/>
          <a:ln/>
        </p:spPr>
        <p:txBody>
          <a:bodyPr wrap="square" rtlCol="0" anchor="ctr"/>
          <a:lstStyle/>
          <a:p>
            <a:pPr marL="0" indent="0" algn="ctr">
              <a:buNone/>
            </a:pPr>
            <a:r>
              <a:rPr lang="en-US" sz="1050" b="1" dirty="0">
                <a:solidFill>
                  <a:srgbClr val="141B49"/>
                </a:solidFill>
                <a:latin typeface="Calibri" pitchFamily="34" charset="0"/>
                <a:ea typeface="Calibri" pitchFamily="34" charset="-122"/>
                <a:cs typeface="Calibri" pitchFamily="34" charset="-120"/>
              </a:rPr>
              <a:t>● LIVE DEPLOYMENT</a:t>
            </a:r>
            <a:endParaRPr lang="en-US" sz="1050" dirty="0"/>
          </a:p>
        </p:txBody>
      </p:sp>
      <p:sp>
        <p:nvSpPr>
          <p:cNvPr id="7" name="Shape 5"/>
          <p:cNvSpPr/>
          <p:nvPr/>
        </p:nvSpPr>
        <p:spPr>
          <a:xfrm>
            <a:off x="484632" y="1508760"/>
            <a:ext cx="5568696" cy="2761898"/>
          </a:xfrm>
          <a:prstGeom prst="roundRect">
            <a:avLst>
              <a:gd name="adj" fmla="val 1490"/>
            </a:avLst>
          </a:prstGeom>
          <a:solidFill>
            <a:srgbClr val="FFFFFF"/>
          </a:solidFill>
          <a:ln w="12700">
            <a:solidFill>
              <a:srgbClr val="D8DEEC"/>
            </a:solidFill>
            <a:prstDash val="solid"/>
          </a:ln>
          <a:effectLst>
            <a:outerShdw blurRad="127000" dist="38100" dir="5400000" algn="bl" rotWithShape="0">
              <a:srgbClr val="5B6479">
                <a:alpha val="28000"/>
              </a:srgbClr>
            </a:outerShdw>
          </a:effectLst>
        </p:spPr>
      </p:sp>
      <p:sp>
        <p:nvSpPr>
          <p:cNvPr id="8" name="Shape 6"/>
          <p:cNvSpPr/>
          <p:nvPr/>
        </p:nvSpPr>
        <p:spPr>
          <a:xfrm>
            <a:off x="484632" y="1508760"/>
            <a:ext cx="5568696" cy="237744"/>
          </a:xfrm>
          <a:prstGeom prst="roundRect">
            <a:avLst>
              <a:gd name="adj" fmla="val 17308"/>
            </a:avLst>
          </a:prstGeom>
          <a:solidFill>
            <a:srgbClr val="EDEFF4"/>
          </a:solidFill>
          <a:ln/>
        </p:spPr>
      </p:sp>
      <p:sp>
        <p:nvSpPr>
          <p:cNvPr id="9" name="Shape 7"/>
          <p:cNvSpPr/>
          <p:nvPr/>
        </p:nvSpPr>
        <p:spPr>
          <a:xfrm>
            <a:off x="585216" y="1581912"/>
            <a:ext cx="91440" cy="91440"/>
          </a:xfrm>
          <a:prstGeom prst="ellipse">
            <a:avLst/>
          </a:prstGeom>
          <a:solidFill>
            <a:srgbClr val="E4605B"/>
          </a:solidFill>
          <a:ln/>
        </p:spPr>
      </p:sp>
      <p:sp>
        <p:nvSpPr>
          <p:cNvPr id="10" name="Shape 8"/>
          <p:cNvSpPr/>
          <p:nvPr/>
        </p:nvSpPr>
        <p:spPr>
          <a:xfrm>
            <a:off x="731520" y="1581912"/>
            <a:ext cx="91440" cy="91440"/>
          </a:xfrm>
          <a:prstGeom prst="ellipse">
            <a:avLst/>
          </a:prstGeom>
          <a:solidFill>
            <a:srgbClr val="E8B23D"/>
          </a:solidFill>
          <a:ln/>
        </p:spPr>
      </p:sp>
      <p:sp>
        <p:nvSpPr>
          <p:cNvPr id="11" name="Shape 9"/>
          <p:cNvSpPr/>
          <p:nvPr/>
        </p:nvSpPr>
        <p:spPr>
          <a:xfrm>
            <a:off x="877824" y="1581912"/>
            <a:ext cx="91440" cy="91440"/>
          </a:xfrm>
          <a:prstGeom prst="ellipse">
            <a:avLst/>
          </a:prstGeom>
          <a:solidFill>
            <a:srgbClr val="3FB65E"/>
          </a:solidFill>
          <a:ln/>
        </p:spPr>
      </p:sp>
      <p:pic>
        <p:nvPicPr>
          <p:cNvPr id="12" name="Image 0" descr="assets/dash_executive_overview.png"/>
          <p:cNvPicPr>
            <a:picLocks noChangeAspect="1"/>
          </p:cNvPicPr>
          <p:nvPr/>
        </p:nvPicPr>
        <p:blipFill>
          <a:blip r:embed="rId3"/>
          <a:stretch>
            <a:fillRect/>
          </a:stretch>
        </p:blipFill>
        <p:spPr>
          <a:xfrm>
            <a:off x="502920" y="2464103"/>
            <a:ext cx="5532120" cy="2487578"/>
          </a:xfrm>
          <a:prstGeom prst="rect">
            <a:avLst/>
          </a:prstGeom>
        </p:spPr>
      </p:pic>
      <p:sp>
        <p:nvSpPr>
          <p:cNvPr id="13" name="Text 10"/>
          <p:cNvSpPr/>
          <p:nvPr/>
        </p:nvSpPr>
        <p:spPr>
          <a:xfrm>
            <a:off x="502920" y="5742432"/>
            <a:ext cx="553212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Executive Overview — KPIs &amp; order volume trend</a:t>
            </a:r>
            <a:endParaRPr lang="en-US" sz="1100" dirty="0"/>
          </a:p>
        </p:txBody>
      </p:sp>
      <p:sp>
        <p:nvSpPr>
          <p:cNvPr id="14" name="Shape 11"/>
          <p:cNvSpPr/>
          <p:nvPr/>
        </p:nvSpPr>
        <p:spPr>
          <a:xfrm>
            <a:off x="6153912" y="1508760"/>
            <a:ext cx="5568696" cy="2767833"/>
          </a:xfrm>
          <a:prstGeom prst="roundRect">
            <a:avLst>
              <a:gd name="adj" fmla="val 1487"/>
            </a:avLst>
          </a:prstGeom>
          <a:solidFill>
            <a:srgbClr val="FFFFFF"/>
          </a:solidFill>
          <a:ln w="12700">
            <a:solidFill>
              <a:srgbClr val="D8DEEC"/>
            </a:solidFill>
            <a:prstDash val="solid"/>
          </a:ln>
          <a:effectLst>
            <a:outerShdw blurRad="127000" dist="38100" dir="5400000" algn="bl" rotWithShape="0">
              <a:srgbClr val="5B6479">
                <a:alpha val="28000"/>
              </a:srgbClr>
            </a:outerShdw>
          </a:effectLst>
        </p:spPr>
      </p:sp>
      <p:sp>
        <p:nvSpPr>
          <p:cNvPr id="15" name="Shape 12"/>
          <p:cNvSpPr/>
          <p:nvPr/>
        </p:nvSpPr>
        <p:spPr>
          <a:xfrm>
            <a:off x="6153912" y="1508760"/>
            <a:ext cx="5568696" cy="237744"/>
          </a:xfrm>
          <a:prstGeom prst="roundRect">
            <a:avLst>
              <a:gd name="adj" fmla="val 17308"/>
            </a:avLst>
          </a:prstGeom>
          <a:solidFill>
            <a:srgbClr val="EDEFF4"/>
          </a:solidFill>
          <a:ln/>
        </p:spPr>
      </p:sp>
      <p:sp>
        <p:nvSpPr>
          <p:cNvPr id="16" name="Shape 13"/>
          <p:cNvSpPr/>
          <p:nvPr/>
        </p:nvSpPr>
        <p:spPr>
          <a:xfrm>
            <a:off x="6254496" y="1581912"/>
            <a:ext cx="91440" cy="91440"/>
          </a:xfrm>
          <a:prstGeom prst="ellipse">
            <a:avLst/>
          </a:prstGeom>
          <a:solidFill>
            <a:srgbClr val="E4605B"/>
          </a:solidFill>
          <a:ln/>
        </p:spPr>
      </p:sp>
      <p:sp>
        <p:nvSpPr>
          <p:cNvPr id="17" name="Shape 14"/>
          <p:cNvSpPr/>
          <p:nvPr/>
        </p:nvSpPr>
        <p:spPr>
          <a:xfrm>
            <a:off x="6400800" y="1581912"/>
            <a:ext cx="91440" cy="91440"/>
          </a:xfrm>
          <a:prstGeom prst="ellipse">
            <a:avLst/>
          </a:prstGeom>
          <a:solidFill>
            <a:srgbClr val="E8B23D"/>
          </a:solidFill>
          <a:ln/>
        </p:spPr>
      </p:sp>
      <p:sp>
        <p:nvSpPr>
          <p:cNvPr id="18" name="Shape 15"/>
          <p:cNvSpPr/>
          <p:nvPr/>
        </p:nvSpPr>
        <p:spPr>
          <a:xfrm>
            <a:off x="6547104" y="1581912"/>
            <a:ext cx="91440" cy="91440"/>
          </a:xfrm>
          <a:prstGeom prst="ellipse">
            <a:avLst/>
          </a:prstGeom>
          <a:solidFill>
            <a:srgbClr val="3FB65E"/>
          </a:solidFill>
          <a:ln/>
        </p:spPr>
      </p:sp>
      <p:pic>
        <p:nvPicPr>
          <p:cNvPr id="19" name="Image 1" descr="assets/dash_customer_segmentation.png"/>
          <p:cNvPicPr>
            <a:picLocks noChangeAspect="1"/>
          </p:cNvPicPr>
          <p:nvPr/>
        </p:nvPicPr>
        <p:blipFill>
          <a:blip r:embed="rId4"/>
          <a:stretch>
            <a:fillRect/>
          </a:stretch>
        </p:blipFill>
        <p:spPr>
          <a:xfrm>
            <a:off x="6172200" y="2461135"/>
            <a:ext cx="5532120" cy="2493513"/>
          </a:xfrm>
          <a:prstGeom prst="rect">
            <a:avLst/>
          </a:prstGeom>
        </p:spPr>
      </p:pic>
      <p:sp>
        <p:nvSpPr>
          <p:cNvPr id="20" name="Text 16"/>
          <p:cNvSpPr/>
          <p:nvPr/>
        </p:nvSpPr>
        <p:spPr>
          <a:xfrm>
            <a:off x="6172200" y="5742432"/>
            <a:ext cx="553212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Customer Segmentation — cluster sizes &amp; silhouette analysis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Live Scoring — Delivery Risk Prediction in Action</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1719072" y="1234440"/>
            <a:ext cx="8723376" cy="3982985"/>
          </a:xfrm>
          <a:prstGeom prst="roundRect">
            <a:avLst>
              <a:gd name="adj" fmla="val 1033"/>
            </a:avLst>
          </a:prstGeom>
          <a:solidFill>
            <a:srgbClr val="FFFFFF"/>
          </a:solidFill>
          <a:ln w="12700">
            <a:solidFill>
              <a:srgbClr val="D8DEEC"/>
            </a:solidFill>
            <a:prstDash val="solid"/>
          </a:ln>
          <a:effectLst>
            <a:outerShdw blurRad="127000" dist="38100" dir="5400000" algn="bl" rotWithShape="0">
              <a:srgbClr val="5B6479">
                <a:alpha val="28000"/>
              </a:srgbClr>
            </a:outerShdw>
          </a:effectLst>
        </p:spPr>
      </p:sp>
      <p:sp>
        <p:nvSpPr>
          <p:cNvPr id="6" name="Shape 4"/>
          <p:cNvSpPr/>
          <p:nvPr/>
        </p:nvSpPr>
        <p:spPr>
          <a:xfrm>
            <a:off x="1719072" y="1234440"/>
            <a:ext cx="8723376" cy="237744"/>
          </a:xfrm>
          <a:prstGeom prst="roundRect">
            <a:avLst>
              <a:gd name="adj" fmla="val 17308"/>
            </a:avLst>
          </a:prstGeom>
          <a:solidFill>
            <a:srgbClr val="EDEFF4"/>
          </a:solidFill>
          <a:ln/>
        </p:spPr>
      </p:sp>
      <p:sp>
        <p:nvSpPr>
          <p:cNvPr id="7" name="Shape 5"/>
          <p:cNvSpPr/>
          <p:nvPr/>
        </p:nvSpPr>
        <p:spPr>
          <a:xfrm>
            <a:off x="1819656" y="1307592"/>
            <a:ext cx="91440" cy="91440"/>
          </a:xfrm>
          <a:prstGeom prst="ellipse">
            <a:avLst/>
          </a:prstGeom>
          <a:solidFill>
            <a:srgbClr val="E4605B"/>
          </a:solidFill>
          <a:ln/>
        </p:spPr>
      </p:sp>
      <p:sp>
        <p:nvSpPr>
          <p:cNvPr id="8" name="Shape 6"/>
          <p:cNvSpPr/>
          <p:nvPr/>
        </p:nvSpPr>
        <p:spPr>
          <a:xfrm>
            <a:off x="1965960" y="1307592"/>
            <a:ext cx="91440" cy="91440"/>
          </a:xfrm>
          <a:prstGeom prst="ellipse">
            <a:avLst/>
          </a:prstGeom>
          <a:solidFill>
            <a:srgbClr val="E8B23D"/>
          </a:solidFill>
          <a:ln/>
        </p:spPr>
      </p:sp>
      <p:sp>
        <p:nvSpPr>
          <p:cNvPr id="9" name="Shape 7"/>
          <p:cNvSpPr/>
          <p:nvPr/>
        </p:nvSpPr>
        <p:spPr>
          <a:xfrm>
            <a:off x="2112264" y="1307592"/>
            <a:ext cx="91440" cy="91440"/>
          </a:xfrm>
          <a:prstGeom prst="ellipse">
            <a:avLst/>
          </a:prstGeom>
          <a:solidFill>
            <a:srgbClr val="3FB65E"/>
          </a:solidFill>
          <a:ln/>
        </p:spPr>
      </p:sp>
      <p:pic>
        <p:nvPicPr>
          <p:cNvPr id="10" name="Image 0" descr="assets/dash_delivery_prediction.png"/>
          <p:cNvPicPr>
            <a:picLocks noChangeAspect="1"/>
          </p:cNvPicPr>
          <p:nvPr/>
        </p:nvPicPr>
        <p:blipFill>
          <a:blip r:embed="rId3"/>
          <a:stretch>
            <a:fillRect/>
          </a:stretch>
        </p:blipFill>
        <p:spPr>
          <a:xfrm>
            <a:off x="1737360" y="1853559"/>
            <a:ext cx="8686800" cy="3708665"/>
          </a:xfrm>
          <a:prstGeom prst="rect">
            <a:avLst/>
          </a:prstGeom>
        </p:spPr>
      </p:pic>
      <p:sp>
        <p:nvSpPr>
          <p:cNvPr id="11" name="Text 8"/>
          <p:cNvSpPr/>
          <p:nvPr/>
        </p:nvSpPr>
        <p:spPr>
          <a:xfrm>
            <a:off x="1737360" y="6053328"/>
            <a:ext cx="8686800" cy="274320"/>
          </a:xfrm>
          <a:prstGeom prst="rect">
            <a:avLst/>
          </a:prstGeom>
          <a:noFill/>
          <a:ln/>
        </p:spPr>
        <p:txBody>
          <a:bodyPr wrap="square" rtlCol="0" anchor="ctr"/>
          <a:lstStyle/>
          <a:p>
            <a:pPr marL="0" indent="0" algn="ctr">
              <a:buNone/>
            </a:pPr>
            <a:r>
              <a:rPr lang="en-US" sz="1100" i="1" dirty="0">
                <a:solidFill>
                  <a:srgbClr val="5B6479"/>
                </a:solidFill>
                <a:latin typeface="Calibri" pitchFamily="34" charset="0"/>
                <a:ea typeface="Calibri" pitchFamily="34" charset="-122"/>
                <a:cs typeface="Calibri" pitchFamily="34" charset="-120"/>
              </a:rPr>
              <a:t>A user enters new order details and gets an instant delivery-risk score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SO WHAT?</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Business Impact &amp; Recommendations</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16</a:t>
            </a:r>
            <a:endParaRPr lang="en-US" sz="900" dirty="0"/>
          </a:p>
        </p:txBody>
      </p:sp>
      <p:sp>
        <p:nvSpPr>
          <p:cNvPr id="5" name="Shape 3"/>
          <p:cNvSpPr/>
          <p:nvPr/>
        </p:nvSpPr>
        <p:spPr>
          <a:xfrm>
            <a:off x="502920" y="1188720"/>
            <a:ext cx="11201400" cy="804672"/>
          </a:xfrm>
          <a:prstGeom prst="roundRect">
            <a:avLst>
              <a:gd name="adj" fmla="val 7955"/>
            </a:avLst>
          </a:prstGeom>
          <a:solidFill>
            <a:srgbClr val="EEF3FE"/>
          </a:solidFill>
          <a:ln w="9525">
            <a:solidFill>
              <a:srgbClr val="E3E9F6"/>
            </a:solidFill>
            <a:prstDash val="solid"/>
          </a:ln>
        </p:spPr>
      </p:sp>
      <p:sp>
        <p:nvSpPr>
          <p:cNvPr id="6" name="Shape 4"/>
          <p:cNvSpPr/>
          <p:nvPr/>
        </p:nvSpPr>
        <p:spPr>
          <a:xfrm>
            <a:off x="685800" y="1389888"/>
            <a:ext cx="402336" cy="402336"/>
          </a:xfrm>
          <a:prstGeom prst="ellipse">
            <a:avLst/>
          </a:prstGeom>
          <a:solidFill>
            <a:srgbClr val="F2A63C"/>
          </a:solidFill>
          <a:ln/>
        </p:spPr>
      </p:sp>
      <p:sp>
        <p:nvSpPr>
          <p:cNvPr id="7" name="Text 5"/>
          <p:cNvSpPr/>
          <p:nvPr/>
        </p:nvSpPr>
        <p:spPr>
          <a:xfrm>
            <a:off x="685800" y="1389888"/>
            <a:ext cx="402336" cy="402336"/>
          </a:xfrm>
          <a:prstGeom prst="rect">
            <a:avLst/>
          </a:prstGeom>
          <a:noFill/>
          <a:ln/>
        </p:spPr>
        <p:txBody>
          <a:bodyPr wrap="square" rtlCol="0" anchor="ctr"/>
          <a:lstStyle/>
          <a:p>
            <a:pPr marL="0" indent="0" algn="ctr">
              <a:buNone/>
            </a:pPr>
            <a:r>
              <a:rPr lang="en-US" sz="1300" b="1" dirty="0">
                <a:solidFill>
                  <a:srgbClr val="141B49"/>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280160" y="1243584"/>
            <a:ext cx="3291840" cy="694944"/>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Prioritise Retention Over Acquisition</a:t>
            </a:r>
            <a:endParaRPr lang="en-US" sz="1250" dirty="0"/>
          </a:p>
        </p:txBody>
      </p:sp>
      <p:sp>
        <p:nvSpPr>
          <p:cNvPr id="9" name="Text 7"/>
          <p:cNvSpPr/>
          <p:nvPr/>
        </p:nvSpPr>
        <p:spPr>
          <a:xfrm>
            <a:off x="4709160" y="1243584"/>
            <a:ext cx="6766560" cy="694944"/>
          </a:xfrm>
          <a:prstGeom prst="rect">
            <a:avLst/>
          </a:prstGeom>
          <a:noFill/>
          <a:ln/>
        </p:spPr>
        <p:txBody>
          <a:bodyPr wrap="square" rtlCol="0" anchor="ctr"/>
          <a:lstStyle/>
          <a:p>
            <a:pPr marL="0" indent="0">
              <a:buNone/>
            </a:pPr>
            <a:r>
              <a:rPr lang="en-US" sz="1100" dirty="0">
                <a:solidFill>
                  <a:srgbClr val="5B6479"/>
                </a:solidFill>
                <a:latin typeface="Calibri" pitchFamily="34" charset="0"/>
                <a:ea typeface="Calibri" pitchFamily="34" charset="-122"/>
                <a:cs typeface="Calibri" pitchFamily="34" charset="-120"/>
              </a:rPr>
              <a:t>97% single-purchase rate is NovaMart's single biggest growth lever — target Premium &amp; At Risk segments directly.</a:t>
            </a:r>
            <a:endParaRPr lang="en-US" sz="1100" dirty="0"/>
          </a:p>
        </p:txBody>
      </p:sp>
      <p:sp>
        <p:nvSpPr>
          <p:cNvPr id="10" name="Shape 8"/>
          <p:cNvSpPr/>
          <p:nvPr/>
        </p:nvSpPr>
        <p:spPr>
          <a:xfrm>
            <a:off x="502920" y="2103120"/>
            <a:ext cx="11201400" cy="804672"/>
          </a:xfrm>
          <a:prstGeom prst="roundRect">
            <a:avLst>
              <a:gd name="adj" fmla="val 7955"/>
            </a:avLst>
          </a:prstGeom>
          <a:solidFill>
            <a:srgbClr val="FFFFFF"/>
          </a:solidFill>
          <a:ln w="9525">
            <a:solidFill>
              <a:srgbClr val="E3E9F6"/>
            </a:solidFill>
            <a:prstDash val="solid"/>
          </a:ln>
        </p:spPr>
      </p:sp>
      <p:sp>
        <p:nvSpPr>
          <p:cNvPr id="11" name="Shape 9"/>
          <p:cNvSpPr/>
          <p:nvPr/>
        </p:nvSpPr>
        <p:spPr>
          <a:xfrm>
            <a:off x="685800" y="2304288"/>
            <a:ext cx="402336" cy="402336"/>
          </a:xfrm>
          <a:prstGeom prst="ellipse">
            <a:avLst/>
          </a:prstGeom>
          <a:solidFill>
            <a:srgbClr val="F2A63C"/>
          </a:solidFill>
          <a:ln/>
        </p:spPr>
      </p:sp>
      <p:sp>
        <p:nvSpPr>
          <p:cNvPr id="12" name="Text 10"/>
          <p:cNvSpPr/>
          <p:nvPr/>
        </p:nvSpPr>
        <p:spPr>
          <a:xfrm>
            <a:off x="685800" y="2304288"/>
            <a:ext cx="402336" cy="402336"/>
          </a:xfrm>
          <a:prstGeom prst="rect">
            <a:avLst/>
          </a:prstGeom>
          <a:noFill/>
          <a:ln/>
        </p:spPr>
        <p:txBody>
          <a:bodyPr wrap="square" rtlCol="0" anchor="ctr"/>
          <a:lstStyle/>
          <a:p>
            <a:pPr marL="0" indent="0" algn="ctr">
              <a:buNone/>
            </a:pPr>
            <a:r>
              <a:rPr lang="en-US" sz="1300" b="1" dirty="0">
                <a:solidFill>
                  <a:srgbClr val="141B49"/>
                </a:solidFill>
                <a:latin typeface="Cambria" pitchFamily="34" charset="0"/>
                <a:ea typeface="Cambria" pitchFamily="34" charset="-122"/>
                <a:cs typeface="Cambria" pitchFamily="34" charset="-120"/>
              </a:rPr>
              <a:t>2</a:t>
            </a:r>
            <a:endParaRPr lang="en-US" sz="1300" dirty="0"/>
          </a:p>
        </p:txBody>
      </p:sp>
      <p:sp>
        <p:nvSpPr>
          <p:cNvPr id="13" name="Text 11"/>
          <p:cNvSpPr/>
          <p:nvPr/>
        </p:nvSpPr>
        <p:spPr>
          <a:xfrm>
            <a:off x="1280160" y="2157984"/>
            <a:ext cx="3291840" cy="694944"/>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Treat Delivery as the #1 Satisfaction Lever</a:t>
            </a:r>
            <a:endParaRPr lang="en-US" sz="1250" dirty="0"/>
          </a:p>
        </p:txBody>
      </p:sp>
      <p:sp>
        <p:nvSpPr>
          <p:cNvPr id="14" name="Text 12"/>
          <p:cNvSpPr/>
          <p:nvPr/>
        </p:nvSpPr>
        <p:spPr>
          <a:xfrm>
            <a:off x="4709160" y="2157984"/>
            <a:ext cx="6766560" cy="694944"/>
          </a:xfrm>
          <a:prstGeom prst="rect">
            <a:avLst/>
          </a:prstGeom>
          <a:noFill/>
          <a:ln/>
        </p:spPr>
        <p:txBody>
          <a:bodyPr wrap="square" rtlCol="0" anchor="ctr"/>
          <a:lstStyle/>
          <a:p>
            <a:pPr marL="0" indent="0">
              <a:buNone/>
            </a:pPr>
            <a:r>
              <a:rPr lang="en-US" sz="1100" dirty="0">
                <a:solidFill>
                  <a:srgbClr val="5B6479"/>
                </a:solidFill>
                <a:latin typeface="Calibri" pitchFamily="34" charset="0"/>
                <a:ea typeface="Calibri" pitchFamily="34" charset="-122"/>
                <a:cs typeface="Calibri" pitchFamily="34" charset="-120"/>
              </a:rPr>
              <a:t>Confirmed by both correlation and explainability analysis — invest in carrier monitoring and proactive delay alerts.</a:t>
            </a:r>
            <a:endParaRPr lang="en-US" sz="1100" dirty="0"/>
          </a:p>
        </p:txBody>
      </p:sp>
      <p:sp>
        <p:nvSpPr>
          <p:cNvPr id="15" name="Shape 13"/>
          <p:cNvSpPr/>
          <p:nvPr/>
        </p:nvSpPr>
        <p:spPr>
          <a:xfrm>
            <a:off x="502920" y="3017520"/>
            <a:ext cx="11201400" cy="804672"/>
          </a:xfrm>
          <a:prstGeom prst="roundRect">
            <a:avLst>
              <a:gd name="adj" fmla="val 7955"/>
            </a:avLst>
          </a:prstGeom>
          <a:solidFill>
            <a:srgbClr val="EEF3FE"/>
          </a:solidFill>
          <a:ln w="9525">
            <a:solidFill>
              <a:srgbClr val="E3E9F6"/>
            </a:solidFill>
            <a:prstDash val="solid"/>
          </a:ln>
        </p:spPr>
      </p:sp>
      <p:sp>
        <p:nvSpPr>
          <p:cNvPr id="16" name="Shape 14"/>
          <p:cNvSpPr/>
          <p:nvPr/>
        </p:nvSpPr>
        <p:spPr>
          <a:xfrm>
            <a:off x="685800" y="3218688"/>
            <a:ext cx="402336" cy="402336"/>
          </a:xfrm>
          <a:prstGeom prst="ellipse">
            <a:avLst/>
          </a:prstGeom>
          <a:solidFill>
            <a:srgbClr val="F2A63C"/>
          </a:solidFill>
          <a:ln/>
        </p:spPr>
      </p:sp>
      <p:sp>
        <p:nvSpPr>
          <p:cNvPr id="17" name="Text 15"/>
          <p:cNvSpPr/>
          <p:nvPr/>
        </p:nvSpPr>
        <p:spPr>
          <a:xfrm>
            <a:off x="685800" y="3218688"/>
            <a:ext cx="402336" cy="402336"/>
          </a:xfrm>
          <a:prstGeom prst="rect">
            <a:avLst/>
          </a:prstGeom>
          <a:noFill/>
          <a:ln/>
        </p:spPr>
        <p:txBody>
          <a:bodyPr wrap="square" rtlCol="0" anchor="ctr"/>
          <a:lstStyle/>
          <a:p>
            <a:pPr marL="0" indent="0" algn="ctr">
              <a:buNone/>
            </a:pPr>
            <a:r>
              <a:rPr lang="en-US" sz="1300" b="1" dirty="0">
                <a:solidFill>
                  <a:srgbClr val="141B49"/>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280160" y="3072384"/>
            <a:ext cx="3291840" cy="694944"/>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Use Predictive Flags as Decision Support</a:t>
            </a:r>
            <a:endParaRPr lang="en-US" sz="1250" dirty="0"/>
          </a:p>
        </p:txBody>
      </p:sp>
      <p:sp>
        <p:nvSpPr>
          <p:cNvPr id="19" name="Text 17"/>
          <p:cNvSpPr/>
          <p:nvPr/>
        </p:nvSpPr>
        <p:spPr>
          <a:xfrm>
            <a:off x="4709160" y="3072384"/>
            <a:ext cx="6766560" cy="694944"/>
          </a:xfrm>
          <a:prstGeom prst="rect">
            <a:avLst/>
          </a:prstGeom>
          <a:noFill/>
          <a:ln/>
        </p:spPr>
        <p:txBody>
          <a:bodyPr wrap="square" rtlCol="0" anchor="ctr"/>
          <a:lstStyle/>
          <a:p>
            <a:pPr marL="0" indent="0">
              <a:buNone/>
            </a:pPr>
            <a:r>
              <a:rPr lang="en-US" sz="1100" dirty="0">
                <a:solidFill>
                  <a:srgbClr val="5B6479"/>
                </a:solidFill>
                <a:latin typeface="Calibri" pitchFamily="34" charset="0"/>
                <a:ea typeface="Calibri" pitchFamily="34" charset="-122"/>
                <a:cs typeface="Calibri" pitchFamily="34" charset="-120"/>
              </a:rPr>
              <a:t>High precision, modest recall — deploy as prioritisation tools for ops &amp; service teams, not full automation.</a:t>
            </a:r>
            <a:endParaRPr lang="en-US" sz="1100" dirty="0"/>
          </a:p>
        </p:txBody>
      </p:sp>
      <p:sp>
        <p:nvSpPr>
          <p:cNvPr id="20" name="Shape 18"/>
          <p:cNvSpPr/>
          <p:nvPr/>
        </p:nvSpPr>
        <p:spPr>
          <a:xfrm>
            <a:off x="502920" y="3931920"/>
            <a:ext cx="11201400" cy="804672"/>
          </a:xfrm>
          <a:prstGeom prst="roundRect">
            <a:avLst>
              <a:gd name="adj" fmla="val 7955"/>
            </a:avLst>
          </a:prstGeom>
          <a:solidFill>
            <a:srgbClr val="FFFFFF"/>
          </a:solidFill>
          <a:ln w="9525">
            <a:solidFill>
              <a:srgbClr val="E3E9F6"/>
            </a:solidFill>
            <a:prstDash val="solid"/>
          </a:ln>
        </p:spPr>
      </p:sp>
      <p:sp>
        <p:nvSpPr>
          <p:cNvPr id="21" name="Shape 19"/>
          <p:cNvSpPr/>
          <p:nvPr/>
        </p:nvSpPr>
        <p:spPr>
          <a:xfrm>
            <a:off x="685800" y="4133088"/>
            <a:ext cx="402336" cy="402336"/>
          </a:xfrm>
          <a:prstGeom prst="ellipse">
            <a:avLst/>
          </a:prstGeom>
          <a:solidFill>
            <a:srgbClr val="F2A63C"/>
          </a:solidFill>
          <a:ln/>
        </p:spPr>
      </p:sp>
      <p:sp>
        <p:nvSpPr>
          <p:cNvPr id="22" name="Text 20"/>
          <p:cNvSpPr/>
          <p:nvPr/>
        </p:nvSpPr>
        <p:spPr>
          <a:xfrm>
            <a:off x="685800" y="4133088"/>
            <a:ext cx="402336" cy="402336"/>
          </a:xfrm>
          <a:prstGeom prst="rect">
            <a:avLst/>
          </a:prstGeom>
          <a:noFill/>
          <a:ln/>
        </p:spPr>
        <p:txBody>
          <a:bodyPr wrap="square" rtlCol="0" anchor="ctr"/>
          <a:lstStyle/>
          <a:p>
            <a:pPr marL="0" indent="0" algn="ctr">
              <a:buNone/>
            </a:pPr>
            <a:r>
              <a:rPr lang="en-US" sz="1300" b="1" dirty="0">
                <a:solidFill>
                  <a:srgbClr val="141B49"/>
                </a:solidFill>
                <a:latin typeface="Cambria" pitchFamily="34" charset="0"/>
                <a:ea typeface="Cambria" pitchFamily="34" charset="-122"/>
                <a:cs typeface="Cambria" pitchFamily="34" charset="-120"/>
              </a:rPr>
              <a:t>4</a:t>
            </a:r>
            <a:endParaRPr lang="en-US" sz="1300" dirty="0"/>
          </a:p>
        </p:txBody>
      </p:sp>
      <p:sp>
        <p:nvSpPr>
          <p:cNvPr id="23" name="Text 21"/>
          <p:cNvSpPr/>
          <p:nvPr/>
        </p:nvSpPr>
        <p:spPr>
          <a:xfrm>
            <a:off x="1280160" y="3986784"/>
            <a:ext cx="3291840" cy="694944"/>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Strengthen Forecasting with More Signals</a:t>
            </a:r>
            <a:endParaRPr lang="en-US" sz="1250" dirty="0"/>
          </a:p>
        </p:txBody>
      </p:sp>
      <p:sp>
        <p:nvSpPr>
          <p:cNvPr id="24" name="Text 22"/>
          <p:cNvSpPr/>
          <p:nvPr/>
        </p:nvSpPr>
        <p:spPr>
          <a:xfrm>
            <a:off x="4709160" y="3986784"/>
            <a:ext cx="6766560" cy="694944"/>
          </a:xfrm>
          <a:prstGeom prst="rect">
            <a:avLst/>
          </a:prstGeom>
          <a:noFill/>
          <a:ln/>
        </p:spPr>
        <p:txBody>
          <a:bodyPr wrap="square" rtlCol="0" anchor="ctr"/>
          <a:lstStyle/>
          <a:p>
            <a:pPr marL="0" indent="0">
              <a:buNone/>
            </a:pPr>
            <a:r>
              <a:rPr lang="en-US" sz="1100" dirty="0">
                <a:solidFill>
                  <a:srgbClr val="5B6479"/>
                </a:solidFill>
                <a:latin typeface="Calibri" pitchFamily="34" charset="0"/>
                <a:ea typeface="Calibri" pitchFamily="34" charset="-122"/>
                <a:cs typeface="Calibri" pitchFamily="34" charset="-120"/>
              </a:rPr>
              <a:t>Add promo calendars, holidays &amp; marketing spend, or move to monthly aggregation before using forecasts operationally.</a:t>
            </a:r>
            <a:endParaRPr lang="en-US" sz="1100" dirty="0"/>
          </a:p>
        </p:txBody>
      </p:sp>
      <p:sp>
        <p:nvSpPr>
          <p:cNvPr id="25" name="Shape 23"/>
          <p:cNvSpPr/>
          <p:nvPr/>
        </p:nvSpPr>
        <p:spPr>
          <a:xfrm>
            <a:off x="502920" y="4846320"/>
            <a:ext cx="11201400" cy="804672"/>
          </a:xfrm>
          <a:prstGeom prst="roundRect">
            <a:avLst>
              <a:gd name="adj" fmla="val 7955"/>
            </a:avLst>
          </a:prstGeom>
          <a:solidFill>
            <a:srgbClr val="EEF3FE"/>
          </a:solidFill>
          <a:ln w="9525">
            <a:solidFill>
              <a:srgbClr val="E3E9F6"/>
            </a:solidFill>
            <a:prstDash val="solid"/>
          </a:ln>
        </p:spPr>
      </p:sp>
      <p:sp>
        <p:nvSpPr>
          <p:cNvPr id="26" name="Shape 24"/>
          <p:cNvSpPr/>
          <p:nvPr/>
        </p:nvSpPr>
        <p:spPr>
          <a:xfrm>
            <a:off x="685800" y="5047488"/>
            <a:ext cx="402336" cy="402336"/>
          </a:xfrm>
          <a:prstGeom prst="ellipse">
            <a:avLst/>
          </a:prstGeom>
          <a:solidFill>
            <a:srgbClr val="F2A63C"/>
          </a:solidFill>
          <a:ln/>
        </p:spPr>
      </p:sp>
      <p:sp>
        <p:nvSpPr>
          <p:cNvPr id="27" name="Text 25"/>
          <p:cNvSpPr/>
          <p:nvPr/>
        </p:nvSpPr>
        <p:spPr>
          <a:xfrm>
            <a:off x="685800" y="5047488"/>
            <a:ext cx="402336" cy="402336"/>
          </a:xfrm>
          <a:prstGeom prst="rect">
            <a:avLst/>
          </a:prstGeom>
          <a:noFill/>
          <a:ln/>
        </p:spPr>
        <p:txBody>
          <a:bodyPr wrap="square" rtlCol="0" anchor="ctr"/>
          <a:lstStyle/>
          <a:p>
            <a:pPr marL="0" indent="0" algn="ctr">
              <a:buNone/>
            </a:pPr>
            <a:r>
              <a:rPr lang="en-US" sz="1300" b="1" dirty="0">
                <a:solidFill>
                  <a:srgbClr val="141B49"/>
                </a:solidFill>
                <a:latin typeface="Cambria" pitchFamily="34" charset="0"/>
                <a:ea typeface="Cambria" pitchFamily="34" charset="-122"/>
                <a:cs typeface="Cambria" pitchFamily="34" charset="-120"/>
              </a:rPr>
              <a:t>5</a:t>
            </a:r>
            <a:endParaRPr lang="en-US" sz="1300" dirty="0"/>
          </a:p>
        </p:txBody>
      </p:sp>
      <p:sp>
        <p:nvSpPr>
          <p:cNvPr id="28" name="Text 26"/>
          <p:cNvSpPr/>
          <p:nvPr/>
        </p:nvSpPr>
        <p:spPr>
          <a:xfrm>
            <a:off x="1280160" y="4901184"/>
            <a:ext cx="3291840" cy="694944"/>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Grow Repeat-Purchase Data</a:t>
            </a:r>
            <a:endParaRPr lang="en-US" sz="1250" dirty="0"/>
          </a:p>
        </p:txBody>
      </p:sp>
      <p:sp>
        <p:nvSpPr>
          <p:cNvPr id="29" name="Text 27"/>
          <p:cNvSpPr/>
          <p:nvPr/>
        </p:nvSpPr>
        <p:spPr>
          <a:xfrm>
            <a:off x="4709160" y="4901184"/>
            <a:ext cx="6766560" cy="694944"/>
          </a:xfrm>
          <a:prstGeom prst="rect">
            <a:avLst/>
          </a:prstGeom>
          <a:noFill/>
          <a:ln/>
        </p:spPr>
        <p:txBody>
          <a:bodyPr wrap="square" rtlCol="0" anchor="ctr"/>
          <a:lstStyle/>
          <a:p>
            <a:pPr marL="0" indent="0">
              <a:buNone/>
            </a:pPr>
            <a:r>
              <a:rPr lang="en-US" sz="1100" dirty="0">
                <a:solidFill>
                  <a:srgbClr val="5B6479"/>
                </a:solidFill>
                <a:latin typeface="Calibri" pitchFamily="34" charset="0"/>
                <a:ea typeface="Calibri" pitchFamily="34" charset="-122"/>
                <a:cs typeface="Calibri" pitchFamily="34" charset="-120"/>
              </a:rPr>
              <a:t>As retention improves, shift the recommendation engine toward deeper personalisation and collaborative filtering.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164592"/>
            <a:ext cx="9144000" cy="274320"/>
          </a:xfrm>
          <a:prstGeom prst="rect">
            <a:avLst/>
          </a:prstGeom>
          <a:noFill/>
          <a:ln/>
        </p:spPr>
        <p:txBody>
          <a:bodyPr wrap="square" rtlCol="0" anchor="ctr"/>
          <a:lstStyle/>
          <a:p>
            <a:pPr marL="0" indent="0">
              <a:buNone/>
            </a:pPr>
            <a:r>
              <a:rPr lang="en-US" sz="1200" b="1" kern="0" spc="200" dirty="0">
                <a:solidFill>
                  <a:srgbClr val="F2A63C"/>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02920" y="402336"/>
            <a:ext cx="10789920" cy="50292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Limitations &amp; Future Enhancements</a:t>
            </a:r>
            <a:endParaRPr lang="en-US" sz="2600" dirty="0"/>
          </a:p>
        </p:txBody>
      </p:sp>
      <p:sp>
        <p:nvSpPr>
          <p:cNvPr id="4" name="Text 2"/>
          <p:cNvSpPr/>
          <p:nvPr/>
        </p:nvSpPr>
        <p:spPr>
          <a:xfrm>
            <a:off x="11365992" y="6473952"/>
            <a:ext cx="457200" cy="292608"/>
          </a:xfrm>
          <a:prstGeom prst="rect">
            <a:avLst/>
          </a:prstGeom>
          <a:noFill/>
          <a:ln/>
        </p:spPr>
        <p:txBody>
          <a:bodyPr wrap="square" rtlCol="0" anchor="ctr"/>
          <a:lstStyle/>
          <a:p>
            <a:pPr marL="0" indent="0" algn="r">
              <a:buNone/>
            </a:pPr>
            <a:r>
              <a:rPr lang="en-US" sz="900" dirty="0">
                <a:solidFill>
                  <a:srgbClr val="5B6479"/>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502920" y="1188720"/>
            <a:ext cx="5440680" cy="5074920"/>
          </a:xfrm>
          <a:prstGeom prst="roundRect">
            <a:avLst>
              <a:gd name="adj" fmla="val 1441"/>
            </a:avLst>
          </a:prstGeom>
          <a:solidFill>
            <a:srgbClr val="EEF3FE"/>
          </a:solidFill>
          <a:ln/>
        </p:spPr>
      </p:sp>
      <p:sp>
        <p:nvSpPr>
          <p:cNvPr id="6" name="Text 4"/>
          <p:cNvSpPr/>
          <p:nvPr/>
        </p:nvSpPr>
        <p:spPr>
          <a:xfrm>
            <a:off x="777240" y="1353312"/>
            <a:ext cx="4892040" cy="365760"/>
          </a:xfrm>
          <a:prstGeom prst="rect">
            <a:avLst/>
          </a:prstGeom>
          <a:noFill/>
          <a:ln/>
        </p:spPr>
        <p:txBody>
          <a:bodyPr wrap="square"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Limitations</a:t>
            </a:r>
            <a:endParaRPr lang="en-US" sz="1700" dirty="0"/>
          </a:p>
        </p:txBody>
      </p:sp>
      <p:sp>
        <p:nvSpPr>
          <p:cNvPr id="7" name="Text 5"/>
          <p:cNvSpPr/>
          <p:nvPr/>
        </p:nvSpPr>
        <p:spPr>
          <a:xfrm>
            <a:off x="777240" y="1828800"/>
            <a:ext cx="4892040" cy="4114800"/>
          </a:xfrm>
          <a:prstGeom prst="rect">
            <a:avLst/>
          </a:prstGeom>
          <a:noFill/>
          <a:ln/>
        </p:spPr>
        <p:txBody>
          <a:bodyPr wrap="square" rtlCol="0" anchor="t"/>
          <a:lstStyle/>
          <a:p>
            <a:pPr marL="177800" indent="-177800">
              <a:spcAft>
                <a:spcPts val="1100"/>
              </a:spcAft>
              <a:buSzPct val="100000"/>
              <a:buChar char="•"/>
            </a:pPr>
            <a:r>
              <a:rPr lang="en-US" sz="1200" dirty="0">
                <a:solidFill>
                  <a:srgbClr val="1B2033"/>
                </a:solidFill>
                <a:latin typeface="Calibri" pitchFamily="34" charset="0"/>
                <a:ea typeface="Calibri" pitchFamily="34" charset="-122"/>
                <a:cs typeface="Calibri" pitchFamily="34" charset="-120"/>
              </a:rPr>
              <a:t>Order-level features give limited signal for logistics outcomes — recall on rare late-delivery events stays low</a:t>
            </a:r>
            <a:endParaRPr lang="en-US" sz="1200" dirty="0"/>
          </a:p>
          <a:p>
            <a:pPr marL="177800" indent="-177800">
              <a:spcAft>
                <a:spcPts val="1100"/>
              </a:spcAft>
              <a:buSzPct val="100000"/>
              <a:buChar char="•"/>
            </a:pPr>
            <a:r>
              <a:rPr lang="en-US" sz="1200" dirty="0">
                <a:solidFill>
                  <a:srgbClr val="1B2033"/>
                </a:solidFill>
                <a:latin typeface="Calibri" pitchFamily="34" charset="0"/>
                <a:ea typeface="Calibri" pitchFamily="34" charset="-122"/>
                <a:cs typeface="Calibri" pitchFamily="34" charset="-120"/>
              </a:rPr>
              <a:t>Dataset is a fixed historical window (Sep 2016 – Oct 2018); no post-2018 market shifts are reflected</a:t>
            </a:r>
            <a:endParaRPr lang="en-US" sz="1200" dirty="0"/>
          </a:p>
          <a:p>
            <a:pPr marL="177800" indent="-177800">
              <a:spcAft>
                <a:spcPts val="1100"/>
              </a:spcAft>
              <a:buSzPct val="100000"/>
              <a:buChar char="•"/>
            </a:pPr>
            <a:r>
              <a:rPr lang="en-US" sz="1200" dirty="0">
                <a:solidFill>
                  <a:srgbClr val="1B2033"/>
                </a:solidFill>
                <a:latin typeface="Calibri" pitchFamily="34" charset="0"/>
                <a:ea typeface="Calibri" pitchFamily="34" charset="-122"/>
                <a:cs typeface="Calibri" pitchFamily="34" charset="-120"/>
              </a:rPr>
              <a:t>Association-rule mining was done at category level; product-level basket analysis could reveal more</a:t>
            </a:r>
            <a:endParaRPr lang="en-US" sz="1200" dirty="0"/>
          </a:p>
          <a:p>
            <a:pPr marL="177800" indent="-177800">
              <a:spcAft>
                <a:spcPts val="1100"/>
              </a:spcAft>
              <a:buSzPct val="100000"/>
              <a:buChar char="•"/>
            </a:pPr>
            <a:r>
              <a:rPr lang="en-US" sz="1200" dirty="0">
                <a:solidFill>
                  <a:srgbClr val="1B2033"/>
                </a:solidFill>
                <a:latin typeface="Calibri" pitchFamily="34" charset="0"/>
                <a:ea typeface="Calibri" pitchFamily="34" charset="-122"/>
                <a:cs typeface="Calibri" pitchFamily="34" charset="-120"/>
              </a:rPr>
              <a:t>NovaMart is fictional — some operational assumptions are illustrative, not drawn from a real company</a:t>
            </a:r>
            <a:endParaRPr lang="en-US" sz="1200" dirty="0"/>
          </a:p>
        </p:txBody>
      </p:sp>
      <p:sp>
        <p:nvSpPr>
          <p:cNvPr id="8" name="Shape 6"/>
          <p:cNvSpPr/>
          <p:nvPr/>
        </p:nvSpPr>
        <p:spPr>
          <a:xfrm>
            <a:off x="6172200" y="1188720"/>
            <a:ext cx="5513832" cy="5074920"/>
          </a:xfrm>
          <a:prstGeom prst="roundRect">
            <a:avLst>
              <a:gd name="adj" fmla="val 1441"/>
            </a:avLst>
          </a:prstGeom>
          <a:solidFill>
            <a:srgbClr val="1E2761"/>
          </a:solidFill>
          <a:ln/>
        </p:spPr>
      </p:sp>
      <p:sp>
        <p:nvSpPr>
          <p:cNvPr id="9" name="Text 7"/>
          <p:cNvSpPr/>
          <p:nvPr/>
        </p:nvSpPr>
        <p:spPr>
          <a:xfrm>
            <a:off x="6400800" y="1353312"/>
            <a:ext cx="5029200" cy="365760"/>
          </a:xfrm>
          <a:prstGeom prst="rect">
            <a:avLst/>
          </a:prstGeom>
          <a:noFill/>
          <a:ln/>
        </p:spPr>
        <p:txBody>
          <a:bodyPr wrap="square" rtlCol="0" anchor="ctr"/>
          <a:lstStyle/>
          <a:p>
            <a:pPr marL="0" indent="0">
              <a:buNone/>
            </a:pPr>
            <a:r>
              <a:rPr lang="en-US" sz="1700" b="1" dirty="0">
                <a:solidFill>
                  <a:srgbClr val="F2A63C"/>
                </a:solidFill>
                <a:latin typeface="Cambria" pitchFamily="34" charset="0"/>
                <a:ea typeface="Cambria" pitchFamily="34" charset="-122"/>
                <a:cs typeface="Cambria" pitchFamily="34" charset="-120"/>
              </a:rPr>
              <a:t>Future Enhancements</a:t>
            </a:r>
            <a:endParaRPr lang="en-US" sz="1700" dirty="0"/>
          </a:p>
        </p:txBody>
      </p:sp>
      <p:sp>
        <p:nvSpPr>
          <p:cNvPr id="10" name="Text 8"/>
          <p:cNvSpPr/>
          <p:nvPr/>
        </p:nvSpPr>
        <p:spPr>
          <a:xfrm>
            <a:off x="6400800" y="1828800"/>
            <a:ext cx="5029200" cy="4114800"/>
          </a:xfrm>
          <a:prstGeom prst="rect">
            <a:avLst/>
          </a:prstGeom>
          <a:noFill/>
          <a:ln/>
        </p:spPr>
        <p:txBody>
          <a:bodyPr wrap="square" rtlCol="0" anchor="t"/>
          <a:lstStyle/>
          <a:p>
            <a:pPr marL="177800" indent="-177800">
              <a:spcAft>
                <a:spcPts val="1100"/>
              </a:spcAft>
              <a:buSzPct val="100000"/>
              <a:buChar char="•"/>
            </a:pPr>
            <a:r>
              <a:rPr lang="en-US" sz="1200" dirty="0">
                <a:solidFill>
                  <a:srgbClr val="CADCFC"/>
                </a:solidFill>
                <a:latin typeface="Calibri" pitchFamily="34" charset="0"/>
                <a:ea typeface="Calibri" pitchFamily="34" charset="-122"/>
                <a:cs typeface="Calibri" pitchFamily="34" charset="-120"/>
              </a:rPr>
              <a:t>Add exogenous regressors to forecasting; test non-linear models (gradient boosting, Prophet)</a:t>
            </a:r>
            <a:endParaRPr lang="en-US" sz="1200" dirty="0"/>
          </a:p>
          <a:p>
            <a:pPr marL="177800" indent="-177800">
              <a:spcAft>
                <a:spcPts val="1100"/>
              </a:spcAft>
              <a:buSzPct val="100000"/>
              <a:buChar char="•"/>
            </a:pPr>
            <a:r>
              <a:rPr lang="en-US" sz="1200" dirty="0">
                <a:solidFill>
                  <a:srgbClr val="CADCFC"/>
                </a:solidFill>
                <a:latin typeface="Calibri" pitchFamily="34" charset="0"/>
                <a:ea typeface="Calibri" pitchFamily="34" charset="-122"/>
                <a:cs typeface="Calibri" pitchFamily="34" charset="-120"/>
              </a:rPr>
              <a:t>Enrich delivery features with real-time carrier tracking &amp; seller-level history to lift recall</a:t>
            </a:r>
            <a:endParaRPr lang="en-US" sz="1200" dirty="0"/>
          </a:p>
          <a:p>
            <a:pPr marL="177800" indent="-177800">
              <a:spcAft>
                <a:spcPts val="1100"/>
              </a:spcAft>
              <a:buSzPct val="100000"/>
              <a:buChar char="•"/>
            </a:pPr>
            <a:r>
              <a:rPr lang="en-US" sz="1200" dirty="0">
                <a:solidFill>
                  <a:srgbClr val="CADCFC"/>
                </a:solidFill>
                <a:latin typeface="Calibri" pitchFamily="34" charset="0"/>
                <a:ea typeface="Calibri" pitchFamily="34" charset="-122"/>
                <a:cs typeface="Calibri" pitchFamily="34" charset="-120"/>
              </a:rPr>
              <a:t>Extend recommendations to product-level rules &amp; deeper collaborative filtering as repeat-purchase data grows</a:t>
            </a:r>
            <a:endParaRPr lang="en-US" sz="1200" dirty="0"/>
          </a:p>
          <a:p>
            <a:pPr marL="177800" indent="-177800">
              <a:spcAft>
                <a:spcPts val="1100"/>
              </a:spcAft>
              <a:buSzPct val="100000"/>
              <a:buChar char="•"/>
            </a:pPr>
            <a:r>
              <a:rPr lang="en-US" sz="1200" dirty="0">
                <a:solidFill>
                  <a:srgbClr val="CADCFC"/>
                </a:solidFill>
                <a:latin typeface="Calibri" pitchFamily="34" charset="0"/>
                <a:ea typeface="Calibri" pitchFamily="34" charset="-122"/>
                <a:cs typeface="Calibri" pitchFamily="34" charset="-120"/>
              </a:rPr>
              <a:t>Add SHAP-based local, per-prediction explanations inside the dashboard</a:t>
            </a:r>
            <a:endParaRPr lang="en-US" sz="1200" dirty="0"/>
          </a:p>
          <a:p>
            <a:pPr marL="177800" indent="-177800">
              <a:spcAft>
                <a:spcPts val="1100"/>
              </a:spcAft>
              <a:buSzPct val="100000"/>
              <a:buChar char="•"/>
            </a:pPr>
            <a:r>
              <a:rPr lang="en-US" sz="1200" dirty="0">
                <a:solidFill>
                  <a:srgbClr val="CADCFC"/>
                </a:solidFill>
                <a:latin typeface="Calibri" pitchFamily="34" charset="0"/>
                <a:ea typeface="Calibri" pitchFamily="34" charset="-122"/>
                <a:cs typeface="Calibri" pitchFamily="34" charset="-120"/>
              </a:rPr>
              <a:t>Connect the platform to a live transactional database for real-time scoring &amp; alerting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332720" y="-1097280"/>
            <a:ext cx="3657600" cy="3657600"/>
          </a:xfrm>
          <a:prstGeom prst="ellipse">
            <a:avLst/>
          </a:prstGeom>
          <a:solidFill>
            <a:srgbClr val="141B49"/>
          </a:solidFill>
          <a:ln/>
        </p:spPr>
      </p:sp>
      <p:sp>
        <p:nvSpPr>
          <p:cNvPr id="3" name="Shape 1"/>
          <p:cNvSpPr/>
          <p:nvPr/>
        </p:nvSpPr>
        <p:spPr>
          <a:xfrm>
            <a:off x="-1280160" y="5120640"/>
            <a:ext cx="3291840" cy="3291840"/>
          </a:xfrm>
          <a:prstGeom prst="ellipse">
            <a:avLst/>
          </a:prstGeom>
          <a:solidFill>
            <a:srgbClr val="141B49"/>
          </a:solidFill>
          <a:ln/>
        </p:spPr>
      </p:sp>
      <p:sp>
        <p:nvSpPr>
          <p:cNvPr id="4" name="Text 2"/>
          <p:cNvSpPr/>
          <p:nvPr/>
        </p:nvSpPr>
        <p:spPr>
          <a:xfrm>
            <a:off x="822960" y="914400"/>
            <a:ext cx="7315200" cy="365760"/>
          </a:xfrm>
          <a:prstGeom prst="rect">
            <a:avLst/>
          </a:prstGeom>
          <a:noFill/>
          <a:ln/>
        </p:spPr>
        <p:txBody>
          <a:bodyPr wrap="square" rtlCol="0" anchor="ctr"/>
          <a:lstStyle/>
          <a:p>
            <a:pPr marL="0" indent="0">
              <a:buNone/>
            </a:pPr>
            <a:r>
              <a:rPr lang="en-US" sz="1300" b="1" kern="0" spc="200" dirty="0">
                <a:solidFill>
                  <a:srgbClr val="F2A63C"/>
                </a:solidFill>
                <a:latin typeface="Calibri" pitchFamily="34" charset="0"/>
                <a:ea typeface="Calibri" pitchFamily="34" charset="-122"/>
                <a:cs typeface="Calibri" pitchFamily="34" charset="-120"/>
              </a:rPr>
              <a:t>CAPSTONE RESULTS SUMMARY</a:t>
            </a:r>
            <a:endParaRPr lang="en-US" sz="1300" dirty="0"/>
          </a:p>
        </p:txBody>
      </p:sp>
      <p:sp>
        <p:nvSpPr>
          <p:cNvPr id="5" name="Text 3"/>
          <p:cNvSpPr/>
          <p:nvPr/>
        </p:nvSpPr>
        <p:spPr>
          <a:xfrm>
            <a:off x="822960" y="1280160"/>
            <a:ext cx="9875520" cy="1554480"/>
          </a:xfrm>
          <a:prstGeom prst="rect">
            <a:avLst/>
          </a:prstGeom>
          <a:noFill/>
          <a:ln/>
        </p:spPr>
        <p:txBody>
          <a:bodyPr wrap="square" rtlCol="0" anchor="ctr"/>
          <a:lstStyle/>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One Platform. Every Result</a:t>
            </a:r>
            <a:endParaRPr lang="en-US" sz="3800" dirty="0"/>
          </a:p>
          <a:p>
            <a:pPr marL="0" indent="0">
              <a:lnSpc>
                <a:spcPts val="4200"/>
              </a:lnSpc>
              <a:buNone/>
            </a:pPr>
            <a:r>
              <a:rPr lang="en-US" sz="3800" b="1" dirty="0">
                <a:solidFill>
                  <a:srgbClr val="FFFFFF"/>
                </a:solidFill>
                <a:latin typeface="Cambria" pitchFamily="34" charset="0"/>
                <a:ea typeface="Cambria" pitchFamily="34" charset="-122"/>
                <a:cs typeface="Cambria" pitchFamily="34" charset="-120"/>
              </a:rPr>
              <a:t>Backed by Real Data.</a:t>
            </a:r>
            <a:endParaRPr lang="en-US" sz="3800" dirty="0"/>
          </a:p>
        </p:txBody>
      </p:sp>
      <p:sp>
        <p:nvSpPr>
          <p:cNvPr id="6" name="Shape 4"/>
          <p:cNvSpPr/>
          <p:nvPr/>
        </p:nvSpPr>
        <p:spPr>
          <a:xfrm>
            <a:off x="822960" y="3246120"/>
            <a:ext cx="2606040" cy="1188720"/>
          </a:xfrm>
          <a:prstGeom prst="roundRect">
            <a:avLst>
              <a:gd name="adj" fmla="val 6154"/>
            </a:avLst>
          </a:prstGeom>
          <a:solidFill>
            <a:srgbClr val="141B49"/>
          </a:solidFill>
          <a:ln/>
        </p:spPr>
      </p:sp>
      <p:sp>
        <p:nvSpPr>
          <p:cNvPr id="7" name="Text 5"/>
          <p:cNvSpPr/>
          <p:nvPr/>
        </p:nvSpPr>
        <p:spPr>
          <a:xfrm>
            <a:off x="822960" y="3355848"/>
            <a:ext cx="2606040" cy="594360"/>
          </a:xfrm>
          <a:prstGeom prst="rect">
            <a:avLst/>
          </a:prstGeom>
          <a:noFill/>
          <a:ln/>
        </p:spPr>
        <p:txBody>
          <a:bodyPr wrap="square" rtlCol="0" anchor="ctr"/>
          <a:lstStyle/>
          <a:p>
            <a:pPr marL="0" indent="0" algn="ctr">
              <a:buNone/>
            </a:pPr>
            <a:r>
              <a:rPr lang="en-US" sz="2400" b="1" dirty="0">
                <a:solidFill>
                  <a:srgbClr val="F2A63C"/>
                </a:solidFill>
                <a:latin typeface="Cambria" pitchFamily="34" charset="0"/>
                <a:ea typeface="Cambria" pitchFamily="34" charset="-122"/>
                <a:cs typeface="Cambria" pitchFamily="34" charset="-120"/>
              </a:rPr>
              <a:t>9</a:t>
            </a:r>
            <a:endParaRPr lang="en-US" sz="2400" dirty="0"/>
          </a:p>
        </p:txBody>
      </p:sp>
      <p:sp>
        <p:nvSpPr>
          <p:cNvPr id="8" name="Text 6"/>
          <p:cNvSpPr/>
          <p:nvPr/>
        </p:nvSpPr>
        <p:spPr>
          <a:xfrm>
            <a:off x="914400" y="3959352"/>
            <a:ext cx="2423160" cy="41148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Modules Delivered End-to-End</a:t>
            </a:r>
            <a:endParaRPr lang="en-US" sz="1000" dirty="0"/>
          </a:p>
        </p:txBody>
      </p:sp>
      <p:sp>
        <p:nvSpPr>
          <p:cNvPr id="9" name="Shape 7"/>
          <p:cNvSpPr/>
          <p:nvPr/>
        </p:nvSpPr>
        <p:spPr>
          <a:xfrm>
            <a:off x="3611880" y="3246120"/>
            <a:ext cx="2606040" cy="1188720"/>
          </a:xfrm>
          <a:prstGeom prst="roundRect">
            <a:avLst>
              <a:gd name="adj" fmla="val 6154"/>
            </a:avLst>
          </a:prstGeom>
          <a:solidFill>
            <a:srgbClr val="141B49"/>
          </a:solidFill>
          <a:ln/>
        </p:spPr>
      </p:sp>
      <p:sp>
        <p:nvSpPr>
          <p:cNvPr id="10" name="Text 8"/>
          <p:cNvSpPr/>
          <p:nvPr/>
        </p:nvSpPr>
        <p:spPr>
          <a:xfrm>
            <a:off x="3611880" y="3355848"/>
            <a:ext cx="2606040" cy="594360"/>
          </a:xfrm>
          <a:prstGeom prst="rect">
            <a:avLst/>
          </a:prstGeom>
          <a:noFill/>
          <a:ln/>
        </p:spPr>
        <p:txBody>
          <a:bodyPr wrap="square" rtlCol="0" anchor="ctr"/>
          <a:lstStyle/>
          <a:p>
            <a:pPr marL="0" indent="0" algn="ctr">
              <a:buNone/>
            </a:pPr>
            <a:r>
              <a:rPr lang="en-US" sz="2400" b="1" dirty="0">
                <a:solidFill>
                  <a:srgbClr val="F2A63C"/>
                </a:solidFill>
                <a:latin typeface="Cambria" pitchFamily="34" charset="0"/>
                <a:ea typeface="Cambria" pitchFamily="34" charset="-122"/>
                <a:cs typeface="Cambria" pitchFamily="34" charset="-120"/>
              </a:rPr>
              <a:t>113,049</a:t>
            </a:r>
            <a:endParaRPr lang="en-US" sz="2400" dirty="0"/>
          </a:p>
        </p:txBody>
      </p:sp>
      <p:sp>
        <p:nvSpPr>
          <p:cNvPr id="11" name="Text 9"/>
          <p:cNvSpPr/>
          <p:nvPr/>
        </p:nvSpPr>
        <p:spPr>
          <a:xfrm>
            <a:off x="3703320" y="3959352"/>
            <a:ext cx="2423160" cy="41148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Orders Analysed</a:t>
            </a:r>
            <a:endParaRPr lang="en-US" sz="1000" dirty="0"/>
          </a:p>
        </p:txBody>
      </p:sp>
      <p:sp>
        <p:nvSpPr>
          <p:cNvPr id="12" name="Shape 10"/>
          <p:cNvSpPr/>
          <p:nvPr/>
        </p:nvSpPr>
        <p:spPr>
          <a:xfrm>
            <a:off x="6400800" y="3246120"/>
            <a:ext cx="2606040" cy="1188720"/>
          </a:xfrm>
          <a:prstGeom prst="roundRect">
            <a:avLst>
              <a:gd name="adj" fmla="val 6154"/>
            </a:avLst>
          </a:prstGeom>
          <a:solidFill>
            <a:srgbClr val="141B49"/>
          </a:solidFill>
          <a:ln/>
        </p:spPr>
      </p:sp>
      <p:sp>
        <p:nvSpPr>
          <p:cNvPr id="13" name="Text 11"/>
          <p:cNvSpPr/>
          <p:nvPr/>
        </p:nvSpPr>
        <p:spPr>
          <a:xfrm>
            <a:off x="6400800" y="3355848"/>
            <a:ext cx="2606040" cy="594360"/>
          </a:xfrm>
          <a:prstGeom prst="rect">
            <a:avLst/>
          </a:prstGeom>
          <a:noFill/>
          <a:ln/>
        </p:spPr>
        <p:txBody>
          <a:bodyPr wrap="square" rtlCol="0" anchor="ctr"/>
          <a:lstStyle/>
          <a:p>
            <a:pPr marL="0" indent="0" algn="ctr">
              <a:buNone/>
            </a:pPr>
            <a:r>
              <a:rPr lang="en-US" sz="2400" b="1" dirty="0">
                <a:solidFill>
                  <a:srgbClr val="F2A63C"/>
                </a:solidFill>
                <a:latin typeface="Cambria" pitchFamily="34" charset="0"/>
                <a:ea typeface="Cambria" pitchFamily="34" charset="-122"/>
                <a:cs typeface="Cambria" pitchFamily="34" charset="-120"/>
              </a:rPr>
              <a:t>3</a:t>
            </a:r>
            <a:endParaRPr lang="en-US" sz="2400" dirty="0"/>
          </a:p>
        </p:txBody>
      </p:sp>
      <p:sp>
        <p:nvSpPr>
          <p:cNvPr id="14" name="Text 12"/>
          <p:cNvSpPr/>
          <p:nvPr/>
        </p:nvSpPr>
        <p:spPr>
          <a:xfrm>
            <a:off x="6492240" y="3959352"/>
            <a:ext cx="2423160" cy="41148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Trained Classifiers/Clustering Models</a:t>
            </a:r>
            <a:endParaRPr lang="en-US" sz="1000" dirty="0"/>
          </a:p>
        </p:txBody>
      </p:sp>
      <p:sp>
        <p:nvSpPr>
          <p:cNvPr id="15" name="Shape 13"/>
          <p:cNvSpPr/>
          <p:nvPr/>
        </p:nvSpPr>
        <p:spPr>
          <a:xfrm>
            <a:off x="9189720" y="3246120"/>
            <a:ext cx="2606040" cy="1188720"/>
          </a:xfrm>
          <a:prstGeom prst="roundRect">
            <a:avLst>
              <a:gd name="adj" fmla="val 6154"/>
            </a:avLst>
          </a:prstGeom>
          <a:solidFill>
            <a:srgbClr val="141B49"/>
          </a:solidFill>
          <a:ln/>
        </p:spPr>
      </p:sp>
      <p:sp>
        <p:nvSpPr>
          <p:cNvPr id="16" name="Text 14"/>
          <p:cNvSpPr/>
          <p:nvPr/>
        </p:nvSpPr>
        <p:spPr>
          <a:xfrm>
            <a:off x="9189720" y="3355848"/>
            <a:ext cx="2606040" cy="594360"/>
          </a:xfrm>
          <a:prstGeom prst="rect">
            <a:avLst/>
          </a:prstGeom>
          <a:noFill/>
          <a:ln/>
        </p:spPr>
        <p:txBody>
          <a:bodyPr wrap="square" rtlCol="0" anchor="ctr"/>
          <a:lstStyle/>
          <a:p>
            <a:pPr marL="0" indent="0" algn="ctr">
              <a:buNone/>
            </a:pPr>
            <a:r>
              <a:rPr lang="en-US" sz="2400" b="1" dirty="0">
                <a:solidFill>
                  <a:srgbClr val="F2A63C"/>
                </a:solidFill>
                <a:latin typeface="Cambria" pitchFamily="34" charset="0"/>
                <a:ea typeface="Cambria" pitchFamily="34" charset="-122"/>
                <a:cs typeface="Cambria" pitchFamily="34" charset="-120"/>
              </a:rPr>
              <a:t>1</a:t>
            </a:r>
            <a:endParaRPr lang="en-US" sz="2400" dirty="0"/>
          </a:p>
        </p:txBody>
      </p:sp>
      <p:sp>
        <p:nvSpPr>
          <p:cNvPr id="17" name="Text 15"/>
          <p:cNvSpPr/>
          <p:nvPr/>
        </p:nvSpPr>
        <p:spPr>
          <a:xfrm>
            <a:off x="9281160" y="3959352"/>
            <a:ext cx="2423160" cy="411480"/>
          </a:xfrm>
          <a:prstGeom prst="rect">
            <a:avLst/>
          </a:prstGeom>
          <a:noFill/>
          <a:ln/>
        </p:spPr>
        <p:txBody>
          <a:bodyPr wrap="square"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Deployed Streamlit Dashboard</a:t>
            </a:r>
            <a:endParaRPr lang="en-US" sz="1000" dirty="0"/>
          </a:p>
        </p:txBody>
      </p:sp>
      <p:sp>
        <p:nvSpPr>
          <p:cNvPr id="18" name="Text 16"/>
          <p:cNvSpPr/>
          <p:nvPr/>
        </p:nvSpPr>
        <p:spPr>
          <a:xfrm>
            <a:off x="822960" y="4892040"/>
            <a:ext cx="9601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GitHub repo  ·  Live Streamlit dashboard  ·  Full capstone report</a:t>
            </a:r>
            <a:endParaRPr lang="en-US" sz="1300" dirty="0"/>
          </a:p>
        </p:txBody>
      </p:sp>
      <p:sp>
        <p:nvSpPr>
          <p:cNvPr id="19" name="Shape 17"/>
          <p:cNvSpPr/>
          <p:nvPr/>
        </p:nvSpPr>
        <p:spPr>
          <a:xfrm>
            <a:off x="822960" y="5440680"/>
            <a:ext cx="2011680" cy="0"/>
          </a:xfrm>
          <a:prstGeom prst="line">
            <a:avLst/>
          </a:prstGeom>
          <a:noFill/>
          <a:ln w="31750">
            <a:solidFill>
              <a:srgbClr val="F2A63C"/>
            </a:solidFill>
            <a:prstDash val="solid"/>
          </a:ln>
        </p:spPr>
      </p:sp>
      <p:sp>
        <p:nvSpPr>
          <p:cNvPr id="20" name="Text 18"/>
          <p:cNvSpPr/>
          <p:nvPr/>
        </p:nvSpPr>
        <p:spPr>
          <a:xfrm>
            <a:off x="822960" y="5623560"/>
            <a:ext cx="9601200" cy="457200"/>
          </a:xfrm>
          <a:prstGeom prst="rect">
            <a:avLst/>
          </a:prstGeom>
          <a:noFill/>
          <a:ln/>
        </p:spPr>
        <p:txBody>
          <a:bodyPr wrap="square" rtlCol="0" anchor="ctr"/>
          <a:lstStyle/>
          <a:p>
            <a:pPr marL="0" indent="0">
              <a:buNone/>
            </a:pPr>
            <a:r>
              <a:rPr lang="en-US" sz="1900" i="1" dirty="0">
                <a:solidFill>
                  <a:srgbClr val="FFFFFF"/>
                </a:solidFill>
                <a:latin typeface="Cambria" pitchFamily="34" charset="0"/>
                <a:ea typeface="Cambria" pitchFamily="34" charset="-122"/>
                <a:cs typeface="Cambria" pitchFamily="34" charset="-120"/>
              </a:rPr>
              <a:t>Thank you — happy to take 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2992</Words>
  <Application>Microsoft Office PowerPoint</Application>
  <PresentationFormat>Custom</PresentationFormat>
  <Paragraphs>333</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Tiwalade Usman</cp:lastModifiedBy>
  <cp:revision>3</cp:revision>
  <dcterms:created xsi:type="dcterms:W3CDTF">2026-07-13T18:44:32Z</dcterms:created>
  <dcterms:modified xsi:type="dcterms:W3CDTF">2026-07-13T20:08:11Z</dcterms:modified>
</cp:coreProperties>
</file>